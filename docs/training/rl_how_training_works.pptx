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783E2-1CA8-441D-BF9B-32BBC6601B42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9C5DC-19FA-4D41-9335-D594FD6EA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0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9C5DC-19FA-4D41-9335-D594FD6EAA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90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60A5FA"/>
                </a:solidFill>
              </a:rPr>
              <a:t>🧠 How Training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4E4E7"/>
                </a:solidFill>
              </a:rPr>
              <a:t>เกิดอะไรขึ้นตอน Train? — Features, Weights,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1717A"/>
                </a:solidFill>
              </a:rPr>
              <a:t>เห็นภาพชัด ตั้งแต่ Forward Pass ถึง Backprop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/>
              <a:t>📊  ⚙️  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</a:rPr>
              <a:t>Visual Guide · 13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🌐 ภาพรวม: Train คืออะไร?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Agent = นักเรียน · Environment = สนามฝึก · Reward = คะแนน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</a:rPr>
              <a:t>🤖 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Neural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1717A"/>
                </a:solidFill>
                <a:latin typeface="Consolas"/>
              </a:rPr>
              <a:t>(125,000 weights)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2468880"/>
            <a:ext cx="914400" cy="45720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011680"/>
            <a:ext cx="347472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923C"/>
                </a:solidFill>
              </a:rPr>
              <a:t>🌍 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TradingEnv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onsolas"/>
              </a:rPr>
              <a:t>(price + features)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69680" y="2468880"/>
            <a:ext cx="914400" cy="4572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BBF24"/>
                </a:solidFill>
              </a:rPr>
              <a:t>reward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011680"/>
            <a:ext cx="173736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/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D399"/>
                </a:solidFill>
              </a:rPr>
              <a:t>↻  ทำซ้ำ ~200,000 ครั้ง — Agent เก่งขึ้นทีละนิด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</a:rPr>
              <a:t>💡 หัวใจของ Train: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E4E4E7"/>
                </a:solidFill>
              </a:rPr>
              <a:t>1. Agent </a:t>
            </a:r>
            <a:r>
              <a:rPr sz="1300" b="0" dirty="0" err="1">
                <a:solidFill>
                  <a:srgbClr val="E4E4E7"/>
                </a:solidFill>
              </a:rPr>
              <a:t>ดู</a:t>
            </a:r>
            <a:r>
              <a:rPr sz="1300" b="0" dirty="0">
                <a:solidFill>
                  <a:srgbClr val="E4E4E7"/>
                </a:solidFill>
              </a:rPr>
              <a:t> state (features </a:t>
            </a:r>
            <a:r>
              <a:rPr sz="1300" b="0" dirty="0" err="1">
                <a:solidFill>
                  <a:srgbClr val="E4E4E7"/>
                </a:solidFill>
              </a:rPr>
              <a:t>ของตลาด</a:t>
            </a:r>
            <a:r>
              <a:rPr sz="1300" b="0" dirty="0">
                <a:solidFill>
                  <a:srgbClr val="E4E4E7"/>
                </a:solidFill>
              </a:rPr>
              <a:t>) → </a:t>
            </a:r>
            <a:r>
              <a:rPr sz="1300" b="0" dirty="0" err="1">
                <a:solidFill>
                  <a:srgbClr val="E4E4E7"/>
                </a:solidFill>
              </a:rPr>
              <a:t>ตัดสินใจ</a:t>
            </a:r>
            <a:r>
              <a:rPr sz="1300" b="0" dirty="0">
                <a:solidFill>
                  <a:srgbClr val="E4E4E7"/>
                </a:solidFill>
              </a:rPr>
              <a:t> action
2. Environment </a:t>
            </a:r>
            <a:r>
              <a:rPr sz="1300" b="0" dirty="0" err="1">
                <a:solidFill>
                  <a:srgbClr val="E4E4E7"/>
                </a:solidFill>
              </a:rPr>
              <a:t>ตอบกลับด้วย</a:t>
            </a:r>
            <a:r>
              <a:rPr sz="1300" b="0" dirty="0">
                <a:solidFill>
                  <a:srgbClr val="E4E4E7"/>
                </a:solidFill>
              </a:rPr>
              <a:t> reward (</a:t>
            </a:r>
            <a:r>
              <a:rPr sz="1300" b="0" dirty="0" err="1">
                <a:solidFill>
                  <a:srgbClr val="E4E4E7"/>
                </a:solidFill>
              </a:rPr>
              <a:t>กำไร</a:t>
            </a:r>
            <a:r>
              <a:rPr sz="1300" b="0" dirty="0">
                <a:solidFill>
                  <a:srgbClr val="E4E4E7"/>
                </a:solidFill>
              </a:rPr>
              <a:t>/</a:t>
            </a:r>
            <a:r>
              <a:rPr sz="1300" b="0" dirty="0" err="1">
                <a:solidFill>
                  <a:srgbClr val="E4E4E7"/>
                </a:solidFill>
              </a:rPr>
              <a:t>ขาดทุน</a:t>
            </a:r>
            <a:r>
              <a:rPr sz="1300" b="0" dirty="0">
                <a:solidFill>
                  <a:srgbClr val="E4E4E7"/>
                </a:solidFill>
              </a:rPr>
              <a:t>)
3. </a:t>
            </a:r>
            <a:r>
              <a:rPr sz="1300" b="0" dirty="0" err="1">
                <a:solidFill>
                  <a:srgbClr val="E4E4E7"/>
                </a:solidFill>
              </a:rPr>
              <a:t>ขยับ</a:t>
            </a:r>
            <a:r>
              <a:rPr sz="1300" b="0" dirty="0">
                <a:solidFill>
                  <a:srgbClr val="E4E4E7"/>
                </a:solidFill>
              </a:rPr>
              <a:t> weights </a:t>
            </a:r>
            <a:r>
              <a:rPr sz="1300" b="0" dirty="0" err="1">
                <a:solidFill>
                  <a:srgbClr val="E4E4E7"/>
                </a:solidFill>
              </a:rPr>
              <a:t>ของ</a:t>
            </a:r>
            <a:r>
              <a:rPr sz="1300" b="0" dirty="0">
                <a:solidFill>
                  <a:srgbClr val="E4E4E7"/>
                </a:solidFill>
              </a:rPr>
              <a:t> Neural Network </a:t>
            </a:r>
            <a:r>
              <a:rPr sz="1300" b="0" dirty="0" err="1">
                <a:solidFill>
                  <a:srgbClr val="E4E4E7"/>
                </a:solidFill>
              </a:rPr>
              <a:t>ให้</a:t>
            </a:r>
            <a:r>
              <a:rPr sz="1300" b="0" dirty="0">
                <a:solidFill>
                  <a:srgbClr val="E4E4E7"/>
                </a:solidFill>
              </a:rPr>
              <a:t> "</a:t>
            </a:r>
            <a:r>
              <a:rPr sz="1300" b="0" dirty="0" err="1">
                <a:solidFill>
                  <a:srgbClr val="E4E4E7"/>
                </a:solidFill>
              </a:rPr>
              <a:t>เก่งขึ้น</a:t>
            </a:r>
            <a:r>
              <a:rPr sz="1300" b="0" dirty="0">
                <a:solidFill>
                  <a:srgbClr val="E4E4E7"/>
                </a:solidFill>
              </a:rPr>
              <a:t>" </a:t>
            </a:r>
            <a:r>
              <a:rPr sz="1300" b="0" dirty="0" err="1">
                <a:solidFill>
                  <a:srgbClr val="E4E4E7"/>
                </a:solidFill>
              </a:rPr>
              <a:t>ในรอบถัดไป</a:t>
            </a:r>
            <a:endParaRPr sz="1300" b="0" dirty="0">
              <a:solidFill>
                <a:srgbClr val="E4E4E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📊 1. Features → State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ทุก bar ของกราฟ = ภาพถ่าย 1 รูป → แปลงเป็นตัวเลข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743200" cy="4114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</a:rPr>
              <a:t>📈 1 Bar (H1)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onsolas"/>
              </a:rPr>
              <a:t>EURUSD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3200400"/>
            <a:ext cx="457200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5648" y="2926080"/>
            <a:ext cx="54864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E4E4E7"/>
                </a:solidFill>
              </a:rPr>
              <a:t>OHLC +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A5FA"/>
                </a:solidFill>
              </a:rPr>
              <a:t>+ 30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78BFA"/>
                </a:solidFill>
              </a:rPr>
              <a:t>+ position state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83280" y="3840480"/>
            <a:ext cx="640080" cy="54864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06240" y="2011680"/>
            <a:ext cx="7498079" cy="411480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103120"/>
            <a:ext cx="722375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71717A"/>
                </a:solidFill>
                <a:latin typeface="Consolas"/>
              </a:rPr>
              <a:t># State vector (window=10, features=33)</a:t>
            </a:r>
          </a:p>
          <a:p>
            <a:r>
              <a:rPr sz="1100" dirty="0">
                <a:solidFill>
                  <a:srgbClr val="E4E4E7"/>
                </a:solidFill>
                <a:latin typeface="Consolas"/>
              </a:rPr>
              <a:t>[</a:t>
            </a:r>
          </a:p>
          <a:p>
            <a:r>
              <a:rPr sz="1100" dirty="0">
                <a:solidFill>
                  <a:srgbClr val="34D399"/>
                </a:solidFill>
                <a:latin typeface="Consolas"/>
              </a:rPr>
              <a:t>  rsi_14       =  0.42      &lt;- </a:t>
            </a:r>
            <a:r>
              <a:rPr sz="1100" dirty="0" err="1">
                <a:solidFill>
                  <a:srgbClr val="34D399"/>
                </a:solidFill>
                <a:latin typeface="Consolas"/>
              </a:rPr>
              <a:t>มาตรวัดแรง</a:t>
            </a:r>
            <a:endParaRPr sz="1100" dirty="0">
              <a:solidFill>
                <a:srgbClr val="34D399"/>
              </a:solidFill>
              <a:latin typeface="Consolas"/>
            </a:endParaRPr>
          </a:p>
          <a:p>
            <a:r>
              <a:rPr sz="1100" dirty="0">
                <a:solidFill>
                  <a:srgbClr val="34D399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34D399"/>
                </a:solidFill>
                <a:latin typeface="Consolas"/>
              </a:rPr>
              <a:t>ema_diff</a:t>
            </a:r>
            <a:r>
              <a:rPr sz="1100" dirty="0">
                <a:solidFill>
                  <a:srgbClr val="34D399"/>
                </a:solidFill>
                <a:latin typeface="Consolas"/>
              </a:rPr>
              <a:t>     = -0.18      &lt;- </a:t>
            </a:r>
            <a:r>
              <a:rPr sz="1100" dirty="0" err="1">
                <a:solidFill>
                  <a:srgbClr val="34D399"/>
                </a:solidFill>
                <a:latin typeface="Consolas"/>
              </a:rPr>
              <a:t>ทิศทาง</a:t>
            </a:r>
            <a:endParaRPr sz="1100" dirty="0">
              <a:solidFill>
                <a:srgbClr val="34D399"/>
              </a:solidFill>
              <a:latin typeface="Consolas"/>
            </a:endParaRPr>
          </a:p>
          <a:p>
            <a:r>
              <a:rPr sz="1100" dirty="0">
                <a:solidFill>
                  <a:srgbClr val="34D399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34D399"/>
                </a:solidFill>
                <a:latin typeface="Consolas"/>
              </a:rPr>
              <a:t>atr_norm</a:t>
            </a:r>
            <a:r>
              <a:rPr sz="1100" dirty="0">
                <a:solidFill>
                  <a:srgbClr val="34D399"/>
                </a:solidFill>
                <a:latin typeface="Consolas"/>
              </a:rPr>
              <a:t>     =  1.05      &lt;- </a:t>
            </a:r>
            <a:r>
              <a:rPr sz="1100" dirty="0" err="1">
                <a:solidFill>
                  <a:srgbClr val="34D399"/>
                </a:solidFill>
                <a:latin typeface="Consolas"/>
              </a:rPr>
              <a:t>ความผันผวน</a:t>
            </a:r>
            <a:endParaRPr sz="1100" dirty="0">
              <a:solidFill>
                <a:srgbClr val="34D399"/>
              </a:solidFill>
              <a:latin typeface="Consolas"/>
            </a:endParaRPr>
          </a:p>
          <a:p>
            <a:r>
              <a:rPr sz="1100" dirty="0">
                <a:solidFill>
                  <a:srgbClr val="34D399"/>
                </a:solidFill>
                <a:latin typeface="Consolas"/>
              </a:rPr>
              <a:t>  hour         =  0.83      &lt;- </a:t>
            </a:r>
            <a:r>
              <a:rPr sz="1100" dirty="0" err="1">
                <a:solidFill>
                  <a:srgbClr val="34D399"/>
                </a:solidFill>
                <a:latin typeface="Consolas"/>
              </a:rPr>
              <a:t>เวลา</a:t>
            </a:r>
            <a:endParaRPr sz="1100" dirty="0">
              <a:solidFill>
                <a:srgbClr val="34D399"/>
              </a:solidFill>
              <a:latin typeface="Consolas"/>
            </a:endParaRPr>
          </a:p>
          <a:p>
            <a:r>
              <a:rPr sz="1100" dirty="0">
                <a:solidFill>
                  <a:srgbClr val="71717A"/>
                </a:solidFill>
                <a:latin typeface="Consolas"/>
              </a:rPr>
              <a:t>  ...                       (</a:t>
            </a:r>
            <a:r>
              <a:rPr sz="1100" dirty="0" err="1">
                <a:solidFill>
                  <a:srgbClr val="71717A"/>
                </a:solidFill>
                <a:latin typeface="Consolas"/>
              </a:rPr>
              <a:t>อีก</a:t>
            </a:r>
            <a:r>
              <a:rPr sz="1100" dirty="0">
                <a:solidFill>
                  <a:srgbClr val="71717A"/>
                </a:solidFill>
                <a:latin typeface="Consolas"/>
              </a:rPr>
              <a:t> 30+ </a:t>
            </a:r>
            <a:r>
              <a:rPr sz="1100" dirty="0" err="1">
                <a:solidFill>
                  <a:srgbClr val="71717A"/>
                </a:solidFill>
                <a:latin typeface="Consolas"/>
              </a:rPr>
              <a:t>ตัว</a:t>
            </a:r>
            <a:r>
              <a:rPr sz="1100" dirty="0">
                <a:solidFill>
                  <a:srgbClr val="71717A"/>
                </a:solidFill>
                <a:latin typeface="Consolas"/>
              </a:rPr>
              <a:t> x 10 bars)</a:t>
            </a:r>
          </a:p>
          <a:p>
            <a:endParaRPr sz="1100" dirty="0">
              <a:solidFill>
                <a:srgbClr val="71717A"/>
              </a:solidFill>
              <a:latin typeface="Consolas"/>
            </a:endParaRPr>
          </a:p>
          <a:p>
            <a:r>
              <a:rPr sz="1100" dirty="0">
                <a:solidFill>
                  <a:srgbClr val="A78BFA"/>
                </a:solidFill>
                <a:latin typeface="Consolas"/>
              </a:rPr>
              <a:t>  position       =  1       &lt;- </a:t>
            </a:r>
            <a:r>
              <a:rPr sz="1100" dirty="0" err="1">
                <a:solidFill>
                  <a:srgbClr val="A78BFA"/>
                </a:solidFill>
                <a:latin typeface="Consolas"/>
              </a:rPr>
              <a:t>ถือ</a:t>
            </a:r>
            <a:r>
              <a:rPr sz="1100" dirty="0">
                <a:solidFill>
                  <a:srgbClr val="A78BFA"/>
                </a:solidFill>
                <a:latin typeface="Consolas"/>
              </a:rPr>
              <a:t> long</a:t>
            </a:r>
          </a:p>
          <a:p>
            <a:r>
              <a:rPr sz="1100" dirty="0">
                <a:solidFill>
                  <a:srgbClr val="A78BFA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A78BFA"/>
                </a:solidFill>
                <a:latin typeface="Consolas"/>
              </a:rPr>
              <a:t>unrealized_pnl</a:t>
            </a:r>
            <a:r>
              <a:rPr sz="1100" dirty="0">
                <a:solidFill>
                  <a:srgbClr val="A78BFA"/>
                </a:solidFill>
                <a:latin typeface="Consolas"/>
              </a:rPr>
              <a:t> =  0.005   &lt;- </a:t>
            </a:r>
            <a:r>
              <a:rPr sz="1100" dirty="0" err="1">
                <a:solidFill>
                  <a:srgbClr val="A78BFA"/>
                </a:solidFill>
                <a:latin typeface="Consolas"/>
              </a:rPr>
              <a:t>กำไรลอย</a:t>
            </a:r>
            <a:r>
              <a:rPr sz="1100" dirty="0">
                <a:solidFill>
                  <a:srgbClr val="A78BFA"/>
                </a:solidFill>
                <a:latin typeface="Consolas"/>
              </a:rPr>
              <a:t> 0.5%</a:t>
            </a:r>
          </a:p>
          <a:p>
            <a:r>
              <a:rPr sz="1100" dirty="0">
                <a:solidFill>
                  <a:srgbClr val="A78BFA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A78BFA"/>
                </a:solidFill>
                <a:latin typeface="Consolas"/>
              </a:rPr>
              <a:t>bars_held</a:t>
            </a:r>
            <a:r>
              <a:rPr sz="1100" dirty="0">
                <a:solidFill>
                  <a:srgbClr val="A78BFA"/>
                </a:solidFill>
                <a:latin typeface="Consolas"/>
              </a:rPr>
              <a:t>      =  0.07    &lt;- </a:t>
            </a:r>
            <a:r>
              <a:rPr sz="1100" dirty="0" err="1">
                <a:solidFill>
                  <a:srgbClr val="A78BFA"/>
                </a:solidFill>
                <a:latin typeface="Consolas"/>
              </a:rPr>
              <a:t>ถือมา</a:t>
            </a:r>
            <a:r>
              <a:rPr sz="1100" dirty="0">
                <a:solidFill>
                  <a:srgbClr val="A78BFA"/>
                </a:solidFill>
                <a:latin typeface="Consolas"/>
              </a:rPr>
              <a:t> 7 bars</a:t>
            </a:r>
          </a:p>
          <a:p>
            <a:r>
              <a:rPr sz="1100" dirty="0">
                <a:solidFill>
                  <a:srgbClr val="E4E4E7"/>
                </a:solidFill>
                <a:latin typeface="Consolas"/>
              </a:rPr>
              <a:t>]</a:t>
            </a:r>
          </a:p>
          <a:p>
            <a:endParaRPr sz="1100" dirty="0">
              <a:solidFill>
                <a:srgbClr val="E4E4E7"/>
              </a:solidFill>
              <a:latin typeface="Consolas"/>
            </a:endParaRPr>
          </a:p>
          <a:p>
            <a:r>
              <a:rPr sz="1100" dirty="0">
                <a:solidFill>
                  <a:srgbClr val="FBBF24"/>
                </a:solidFill>
                <a:latin typeface="Consolas"/>
              </a:rPr>
              <a:t>  shape = (333,)   &lt;- </a:t>
            </a:r>
            <a:r>
              <a:rPr sz="1100" dirty="0" err="1">
                <a:solidFill>
                  <a:srgbClr val="FBBF24"/>
                </a:solidFill>
                <a:latin typeface="Consolas"/>
              </a:rPr>
              <a:t>ป้อนเข้า</a:t>
            </a:r>
            <a:r>
              <a:rPr sz="1100" dirty="0">
                <a:solidFill>
                  <a:srgbClr val="FBBF24"/>
                </a:solidFill>
                <a:latin typeface="Consolas"/>
              </a:rPr>
              <a:t> Neural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⚙️ 2. Neural Network = Layers +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Network = หลาย layer ต่อกัน — แต่ละ layer มี weights นับหมื่น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18288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E4E4E7"/>
                </a:solidFill>
                <a:latin typeface="Consolas"/>
              </a:rPr>
              <a:t>333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neurons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BBF24"/>
                </a:solidFill>
                <a:latin typeface="Consolas"/>
              </a:rPr>
              <a:t>state vector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3108960"/>
            <a:ext cx="365760" cy="365760"/>
          </a:xfrm>
          <a:prstGeom prst="rightArrow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97480" y="2194560"/>
            <a:ext cx="18288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</a:rPr>
              <a:t>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E4E4E7"/>
                </a:solidFill>
                <a:latin typeface="Consolas"/>
              </a:rPr>
              <a:t>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neurons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BBF24"/>
                </a:solidFill>
                <a:latin typeface="Consolas"/>
              </a:rPr>
              <a:t>≈ 85K weights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72000" y="3108960"/>
            <a:ext cx="365760" cy="365760"/>
          </a:xfrm>
          <a:prstGeom prst="rightArrow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37760" y="2194560"/>
            <a:ext cx="18288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</a:rPr>
              <a:t>Layer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E4E4E7"/>
                </a:solidFill>
                <a:latin typeface="Consolas"/>
              </a:rPr>
              <a:t>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neurons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BBF24"/>
                </a:solidFill>
                <a:latin typeface="Consolas"/>
              </a:rPr>
              <a:t>≈ 33K weights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12280" y="3108960"/>
            <a:ext cx="365760" cy="365760"/>
          </a:xfrm>
          <a:prstGeom prst="rightArrow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178040" y="2194560"/>
            <a:ext cx="18288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</a:rPr>
              <a:t>Layer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E4E4E7"/>
                </a:solidFill>
                <a:latin typeface="Consolas"/>
              </a:rPr>
              <a:t>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neurons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BBF24"/>
                </a:solidFill>
                <a:latin typeface="Consolas"/>
              </a:rPr>
              <a:t>≈ 8K weights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52560" y="3108960"/>
            <a:ext cx="365760" cy="365760"/>
          </a:xfrm>
          <a:prstGeom prst="rightArrow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18320" y="2194560"/>
            <a:ext cx="18288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923C"/>
                </a:solidFill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E4E4E7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neurons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BBF24"/>
                </a:solidFill>
                <a:latin typeface="Consolas"/>
              </a:rPr>
              <a:t>Hold/Buy/Sell/Close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🧮 Total Weights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≈ 125,000 ตัวที่ต้อง "จูน" — เริ่มจาก random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เป้าหมาย Train: หาค่า weights ทั้ง 125K ที่ทำให้ตัดสินใจได้ดีที่สุด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🧮 ทำไมถึงเป็น 125,000 weights?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weights ระหว่าง 2 layer = (input neurons) × (output neurons) + (bias)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30352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📥 Input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4E4E7"/>
                </a:solidFill>
                <a:latin typeface="Consolas"/>
              </a:rPr>
              <a:t>state = window × features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onsolas"/>
              </a:rPr>
              <a:t>      = 10 × 33 + 3  =  333 ตัว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920240"/>
            <a:ext cx="585216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</a:rPr>
              <a:t>🔢 Bias คืออะไร?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E4E4E7"/>
                </a:solidFill>
              </a:rPr>
              <a:t>ค่าคงที่บวกต่อ</a:t>
            </a:r>
            <a:r>
              <a:rPr sz="1200" b="0" dirty="0">
                <a:solidFill>
                  <a:srgbClr val="E4E4E7"/>
                </a:solidFill>
              </a:rPr>
              <a:t> neuron 1 </a:t>
            </a:r>
            <a:r>
              <a:rPr sz="1200" b="0" dirty="0" err="1">
                <a:solidFill>
                  <a:srgbClr val="E4E4E7"/>
                </a:solidFill>
              </a:rPr>
              <a:t>ตัว</a:t>
            </a:r>
            <a:endParaRPr sz="1200" b="0" dirty="0">
              <a:solidFill>
                <a:srgbClr val="E4E4E7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onsolas"/>
              </a:rPr>
              <a:t>เหมือน 'b' ในสมการ y = mx +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11247120" cy="24688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</a:rPr>
              <a:t>📐 คำนวณทีละ layer: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0881360" cy="182880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E4E4E7"/>
                </a:solidFill>
                <a:latin typeface="Consolas"/>
              </a:rPr>
              <a:t>Layer 1   Input(333) -&gt; Hidden(256):  333 × 256 + 256 =  85,504</a:t>
            </a:r>
          </a:p>
          <a:p>
            <a:r>
              <a:rPr sz="1100" dirty="0">
                <a:solidFill>
                  <a:srgbClr val="E4E4E7"/>
                </a:solidFill>
                <a:latin typeface="Consolas"/>
              </a:rPr>
              <a:t>Layer 2   Hidden(256) -&gt; Hidden(128): 256 × 128 + 128 =  32,896</a:t>
            </a:r>
          </a:p>
          <a:p>
            <a:r>
              <a:rPr sz="1100" dirty="0">
                <a:solidFill>
                  <a:srgbClr val="E4E4E7"/>
                </a:solidFill>
                <a:latin typeface="Consolas"/>
              </a:rPr>
              <a:t>Layer 3   Hidden(128) -&gt; Hidden(64):  128 ×  64 +  64 =   8,256</a:t>
            </a:r>
          </a:p>
          <a:p>
            <a:r>
              <a:rPr sz="1100" dirty="0">
                <a:solidFill>
                  <a:srgbClr val="34D399"/>
                </a:solidFill>
                <a:latin typeface="Consolas"/>
              </a:rPr>
              <a:t>Actor     Hidden(64) -&gt; Output(4):     64 ×   4 +   4 =     260   &lt;- Hold/Buy/Sell/Close</a:t>
            </a:r>
          </a:p>
          <a:p>
            <a:r>
              <a:rPr sz="1100" dirty="0">
                <a:solidFill>
                  <a:srgbClr val="F472B6"/>
                </a:solidFill>
                <a:latin typeface="Consolas"/>
              </a:rPr>
              <a:t>Critic    Hidden(64) -&gt; Value(1):      64 ×   1 +   1 =      65   &lt;- </a:t>
            </a:r>
            <a:r>
              <a:rPr sz="1100" dirty="0" err="1">
                <a:solidFill>
                  <a:srgbClr val="F472B6"/>
                </a:solidFill>
                <a:latin typeface="Consolas"/>
              </a:rPr>
              <a:t>ทาย</a:t>
            </a:r>
            <a:r>
              <a:rPr sz="1100" dirty="0">
                <a:solidFill>
                  <a:srgbClr val="F472B6"/>
                </a:solidFill>
                <a:latin typeface="Consolas"/>
              </a:rPr>
              <a:t> state value</a:t>
            </a:r>
          </a:p>
          <a:p>
            <a:r>
              <a:rPr sz="1100" dirty="0">
                <a:solidFill>
                  <a:srgbClr val="71717A"/>
                </a:solidFill>
                <a:latin typeface="Consolas"/>
              </a:rPr>
              <a:t>                                       ─────────────────────────</a:t>
            </a:r>
          </a:p>
          <a:p>
            <a:r>
              <a:rPr sz="1100" dirty="0">
                <a:solidFill>
                  <a:srgbClr val="FBBF24"/>
                </a:solidFill>
                <a:latin typeface="Consolas"/>
              </a:rPr>
              <a:t>                                       TOTAL          ≈ 126,981   ≈ 125K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35040"/>
            <a:ext cx="11247120" cy="731520"/>
          </a:xfrm>
          <a:prstGeom prst="roundRect">
            <a:avLst/>
          </a:prstGeom>
          <a:solidFill>
            <a:srgbClr val="27272A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4E4E7"/>
                </a:solidFill>
                <a:latin typeface="Consolas"/>
              </a:rPr>
              <a:t>💡 Network </a:t>
            </a:r>
            <a:r>
              <a:rPr sz="1200" b="0" dirty="0" err="1">
                <a:solidFill>
                  <a:srgbClr val="E4E4E7"/>
                </a:solidFill>
                <a:latin typeface="Consolas"/>
              </a:rPr>
              <a:t>ขึ้นกับ</a:t>
            </a:r>
            <a:r>
              <a:rPr sz="1200" b="0" dirty="0">
                <a:solidFill>
                  <a:srgbClr val="E4E4E7"/>
                </a:solidFill>
                <a:latin typeface="Consolas"/>
              </a:rPr>
              <a:t> window:  window&lt;20 → 50K · window 20–49 → 125K · window≥50 → 350K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</a:rPr>
              <a:t>(auto-scale ใน rl_train.py — ใหญ่ไป overfit, เล็กไป underfit)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➡️ 3. Forward Pass (state → 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เอา features × weights ทีละ layer → ออกมาเป็น probability ของแต่ละ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1247120" cy="329184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0A5FA"/>
                </a:solidFill>
                <a:latin typeface="Consolas"/>
              </a:rPr>
              <a:t>state (333,)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× W1 + b1   →  ReLU  →  activations1 (256,)   &lt;- 'รู้สึก' กับ pattern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× W2 + b2   →  ReLU  →  activations2 (128,)   &lt;- กรองข้อมูลขั้นที่ 2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× W3 + b3   →  ReLU  →  activations3 (64,)    &lt;- รวบ pattern เข้มข้น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× W_out + b_out →  Softmax  →  probability vector</a:t>
            </a:r>
          </a:p>
          <a:p>
            <a:endParaRPr sz="1100">
              <a:solidFill>
                <a:srgbClr val="E4E4E7"/>
              </a:solidFill>
              <a:latin typeface="Consolas"/>
            </a:endParaRPr>
          </a:p>
          <a:p>
            <a:r>
              <a:rPr sz="1100">
                <a:solidFill>
                  <a:srgbClr val="FB923C"/>
                </a:solidFill>
                <a:latin typeface="Consolas"/>
              </a:rPr>
              <a:t>OUTPUT:  [0.10,  0.60,  0.20,  0.10]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     Hold   Buy   Sell  Close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              ↑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          Agent เลือก: BUY  (probability สูงสุด)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272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💡 ตอนเริ่ม weights = random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4E4E7"/>
                </a:solidFill>
              </a:rPr>
              <a:t>→ output ก็มั่ว ก็เหมือนคนเริ่มเล่นโป๊กเกอร์ — ต้องเล่นเยอะๆ ถึงจะเก่ง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🎯 4. Reward = สัญญาณ "เลือกถูกหรือผิด?"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Environment คำนวณ reward ทุก step — อันนี้คือคะแนนที่ guide การเรียน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1247120" cy="402336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0A5FA"/>
                </a:solidFill>
                <a:latin typeface="Consolas"/>
              </a:rPr>
              <a:t>Trade timeline (Buy → Hold × 4 → Close):</a:t>
            </a:r>
          </a:p>
          <a:p>
            <a:endParaRPr sz="1100">
              <a:solidFill>
                <a:srgbClr val="60A5FA"/>
              </a:solidFill>
              <a:latin typeface="Consolas"/>
            </a:endParaRP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t=0  Agent: BUY at 1.0850</a:t>
            </a: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     Env:   เปิด long, cost = -0.0003</a:t>
            </a:r>
          </a:p>
          <a:p>
            <a:endParaRPr sz="1100">
              <a:solidFill>
                <a:srgbClr val="EF4444"/>
              </a:solidFill>
              <a:latin typeface="Consolas"/>
            </a:endParaRP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t=1  Agent: HOLD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Env:   price 1.0855  (+0.046%)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        reward += 0.00046  &lt;- unrealized delta (เราเพิ่มใหม่!)</a:t>
            </a:r>
          </a:p>
          <a:p>
            <a:endParaRPr sz="1100">
              <a:solidFill>
                <a:srgbClr val="34D399"/>
              </a:solidFill>
              <a:latin typeface="Consolas"/>
            </a:endParaRP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t=2  Agent: HOLD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Env:   price 1.0860  (+0.092%)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        reward += 0.00046</a:t>
            </a:r>
          </a:p>
          <a:p>
            <a:endParaRPr sz="1100">
              <a:solidFill>
                <a:srgbClr val="34D399"/>
              </a:solidFill>
              <a:latin typeface="Consolas"/>
            </a:endParaRP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t=5  Agent: CLOSE at 1.0870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Env:   pnl = +0.184%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        reward = +1.84    &lt;- Big chunk × 10!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               + 0.005    &lt;- profit bonus</a:t>
            </a: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                   - 0.0001   &lt;- commission</a:t>
            </a:r>
          </a:p>
          <a:p>
            <a:r>
              <a:rPr sz="1100">
                <a:solidFill>
                  <a:srgbClr val="FBBF24"/>
                </a:solidFill>
                <a:latin typeface="Consolas"/>
              </a:rPr>
              <a:t>            -------- Total: ~+1.85 ----------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🗂️ 5. Rollout Buffer +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PPO เก็บ trajectories 2,048 transitions → คำนวณ "advantage" ของแต่ละ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6400800" cy="420624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61264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0A5FA"/>
                </a:solidFill>
                <a:latin typeface="Consolas"/>
              </a:rPr>
              <a:t>Rollout Buffer (n_steps = 2048):</a:t>
            </a:r>
          </a:p>
          <a:p>
            <a:endParaRPr sz="1100">
              <a:solidFill>
                <a:srgbClr val="60A5FA"/>
              </a:solidFill>
              <a:latin typeface="Consolas"/>
            </a:endParaRP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┌────┬───────┬────────┬─────────┐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│ t  │ state │ action │ reward  │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├────┼───────┼────────┼─────────┤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│ 0  │ s_0   │ Buy    │ -0.0003 │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│ 1  │ s_1   │ Hold   │ +0.0005 │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│ 2  │ s_2   │ Hold   │ +0.0005 │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│ 3  │ s_3   │ Hold   │ +0.0005 │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│ 4  │ s_4   │ Hold   │ +0.0005 │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│ 5  │ s_5   │ Close  │ +1.85   │ &lt;-- big!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│ 6  │ s_6   │ Hold   │ -0.0001 │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│... │ ...   │ ...    │ ...     │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└────┴───────┴────────┴─────────┘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× 2048 rows                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011680"/>
            <a:ext cx="4663440" cy="420624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</a:rPr>
              <a:t>📐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606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= action นี้ดีกว่าค่าเฉลี่ยแค่ไหน?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108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4E4E7"/>
                </a:solidFill>
              </a:rPr>
              <a:t>ตัวอย่าง: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520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4E4E7"/>
                </a:solidFill>
              </a:rPr>
              <a:t>• Buy ที่ t=0 → ได้ +1.85 ตอน t=5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886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Consolas"/>
              </a:rPr>
              <a:t>  Adv = +1.5  ✅ ดีมาก!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434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4E4E7"/>
                </a:solidFill>
              </a:rPr>
              <a:t>• Hold ที่ t=2 → trade ติดอีก 3 bars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800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onsolas"/>
              </a:rPr>
              <a:t>  Adv = -0.05  ❌ ไม่ดี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3492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</a:rPr>
              <a:t>→ Adv &gt; 0 = push weights ให้
   เลือก action นี้บ่อยขึ้น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⬇️ 6. Gradient Descent — "ก้าวลงเขา"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ขยับ weights ทีละนิด ในทิศที่ทำให้ "loss" ลดลง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1247120" cy="146304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0A5FA"/>
                </a:solidFill>
                <a:latin typeface="Consolas"/>
              </a:rPr>
              <a:t>Update rule:</a:t>
            </a:r>
          </a:p>
          <a:p>
            <a:endParaRPr sz="1100">
              <a:solidFill>
                <a:srgbClr val="60A5FA"/>
              </a:solidFill>
              <a:latin typeface="Consolas"/>
            </a:endParaRP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W_new  =  W_old  -  learning_rate  ×  gradient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                         ↑                  ↑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                       3e-4         ทิศที่ทำให้ loss ลดลง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6858000" cy="274320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0A5FA"/>
                </a:solidFill>
                <a:latin typeface="Consolas"/>
              </a:rPr>
              <a:t>Loss landscape:</a:t>
            </a:r>
          </a:p>
          <a:p>
            <a:endParaRPr sz="1100">
              <a:solidFill>
                <a:srgbClr val="60A5FA"/>
              </a:solidFill>
              <a:latin typeface="Consolas"/>
            </a:endParaRP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loss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▲</a:t>
            </a: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    │ ╲                ╱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│  ╲              ╱   &lt;- weights แย่</a:t>
            </a:r>
          </a:p>
          <a:p>
            <a:r>
              <a:rPr sz="1100">
                <a:solidFill>
                  <a:srgbClr val="FBBF24"/>
                </a:solidFill>
                <a:latin typeface="Consolas"/>
              </a:rPr>
              <a:t>    │   ╲    ⬇        ╱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│    ╲  ก้าว     ╱     &lt;- ก้าวลงเขา</a:t>
            </a:r>
          </a:p>
          <a:p>
            <a:r>
              <a:rPr sz="1100">
                <a:solidFill>
                  <a:srgbClr val="FBBF24"/>
                </a:solidFill>
                <a:latin typeface="Consolas"/>
              </a:rPr>
              <a:t>    │     ╲ลงเขา    ╱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│      ╲────────╱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 │       ⭐ minimum    &lt;- weights ดีที่สุด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└──────────────────► weight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657600"/>
            <a:ext cx="4114800" cy="2743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3794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⚠️ Learning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51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🚀 lr สูงไป (5e-3):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617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4E4E7"/>
                </a:solidFill>
              </a:rPr>
              <a:t>ก้าวใหญ่ → กระโดดข้ามเป้า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</a:rPr>
              <a:t>→ KL spike, training ไม่นิ่ง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🐌 lr ต่ำไป (1e-6):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806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4E4E7"/>
                </a:solidFill>
              </a:rPr>
              <a:t>ก้าวเล็ก → ช้ามาก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126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</a:rPr>
              <a:t>→ train ไม่ทันจบ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🔧 7. Weights ขยับยังไง?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ทุก weight ใน 125,000 ตัว ขยับนิดเดียว → รวมกันเปลี่ยน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86400" cy="40233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❌ ก่อน Train (random)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120640" cy="329184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Consolas"/>
              </a:rPr>
              <a:t># State: ราคาเริ่มขึ้น + RSI ต่ำ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# (sweet spot ของการ Buy)</a:t>
            </a:r>
          </a:p>
          <a:p>
            <a:endParaRPr sz="1100">
              <a:solidFill>
                <a:srgbClr val="71717A"/>
              </a:solidFill>
              <a:latin typeface="Consolas"/>
            </a:endParaRP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Network output: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[0.25, 0.25, 0.25, 0.25]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Hold   Buy  Sell Close</a:t>
            </a:r>
          </a:p>
          <a:p>
            <a:endParaRPr sz="1100">
              <a:solidFill>
                <a:srgbClr val="71717A"/>
              </a:solidFill>
              <a:latin typeface="Consolas"/>
            </a:endParaRP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→ Agent เลือกมั่ว</a:t>
            </a: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  มี chance Buy ถูกแค่ 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0233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✅ หลัง Train 200K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120640" cy="329184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1717A"/>
                </a:solidFill>
                <a:latin typeface="Consolas"/>
              </a:rPr>
              <a:t># State: ราคาเริ่มขึ้น + RSI ต่ำ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# (sweet spot ของการ Buy)</a:t>
            </a:r>
          </a:p>
          <a:p>
            <a:endParaRPr sz="1100">
              <a:solidFill>
                <a:srgbClr val="71717A"/>
              </a:solidFill>
              <a:latin typeface="Consolas"/>
            </a:endParaRP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Network output: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[0.10, 0.78, 0.08, 0.04]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Hold   Buy  Sell Close</a:t>
            </a:r>
          </a:p>
          <a:p>
            <a:endParaRPr sz="1100">
              <a:solidFill>
                <a:srgbClr val="71717A"/>
              </a:solidFill>
              <a:latin typeface="Consolas"/>
            </a:endParaRP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→ Agent มั่นใจเลือก Buy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78% probability — เก่งแล้ว!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17920"/>
            <a:ext cx="11247120" cy="54864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4E4E7"/>
                </a:solidFill>
              </a:rPr>
              <a:t>↑ เกิดจาก: weight แต่ละตัวที่เกี่ยวกับ "RSI ต่ำ + ราคาขึ้น" → "Buy" ขยับเพิ่มขึ้นเรื่อยๆทุก epoch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923C"/>
                </a:solidFill>
              </a:rPr>
              <a:t>⭐ 8. ทำไมต้องมี Reward ระหว่าง Hold?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ปัญหา reward เก่า + วิธีแก้ที่เพิ่งใส่เข้าไปใน trading_env.py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❌ ของเดิม: reward = 0 ระหว่าง 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120640" cy="338328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4E4E7"/>
                </a:solidFill>
                <a:latin typeface="Consolas"/>
              </a:rPr>
              <a:t>Buy → Hold → Hold → Hold → Hold → Close (+1.84)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│     0      0      0      0      ↑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│                                  │</a:t>
            </a: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 └── 30 bars นี้ NO signal! ────────┘</a:t>
            </a:r>
          </a:p>
          <a:p>
            <a:endParaRPr sz="1100">
              <a:solidFill>
                <a:srgbClr val="EF4444"/>
              </a:solidFill>
              <a:latin typeface="Consolas"/>
            </a:endParaRPr>
          </a:p>
          <a:p>
            <a:r>
              <a:rPr sz="1100">
                <a:solidFill>
                  <a:srgbClr val="FBBF24"/>
                </a:solidFill>
                <a:latin typeface="Consolas"/>
              </a:rPr>
              <a:t>ผลลัพธ์: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• Agent ไม่รู้ว่า Hold ตอนไหนดี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• Close timing พัง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• ต้องพึ่ง SL/TP ช่วยปิด</a:t>
            </a:r>
          </a:p>
          <a:p>
            <a:endParaRPr sz="1100">
              <a:solidFill>
                <a:srgbClr val="E4E4E7"/>
              </a:solidFill>
              <a:latin typeface="Consolas"/>
            </a:endParaRP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→ Pure Agent backtest:</a:t>
            </a:r>
          </a:p>
          <a:p>
            <a:r>
              <a:rPr sz="1100">
                <a:solidFill>
                  <a:srgbClr val="EF4444"/>
                </a:solidFill>
                <a:latin typeface="Consolas"/>
              </a:rPr>
              <a:t>   PF = 0.58  (ขาดทุน)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✅ ใหม่: incremental unrealized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120640" cy="338328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4E4E7"/>
                </a:solidFill>
                <a:latin typeface="Consolas"/>
              </a:rPr>
              <a:t>Buy → Hold(+0.5) → Hold(+0.5) → Hold(-0.5)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    ↑              ↑              ↑</a:t>
            </a:r>
          </a:p>
          <a:p>
            <a:r>
              <a:rPr sz="1100">
                <a:solidFill>
                  <a:srgbClr val="71717A"/>
                </a:solidFill>
                <a:latin typeface="Consolas"/>
              </a:rPr>
              <a:t>   ราคาขึ้น       ราคาขึ้น     ราคาลง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   = signal+      signal+      signal-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                                ↓</a:t>
            </a:r>
          </a:p>
          <a:p>
            <a:r>
              <a:rPr sz="1100">
                <a:solidFill>
                  <a:srgbClr val="FBBF24"/>
                </a:solidFill>
                <a:latin typeface="Consolas"/>
              </a:rPr>
              <a:t>                          = บอกให้ Close!</a:t>
            </a:r>
          </a:p>
          <a:p>
            <a:endParaRPr sz="1100">
              <a:solidFill>
                <a:srgbClr val="FBBF24"/>
              </a:solidFill>
              <a:latin typeface="Consolas"/>
            </a:endParaRPr>
          </a:p>
          <a:p>
            <a:r>
              <a:rPr sz="1100">
                <a:solidFill>
                  <a:srgbClr val="FBBF24"/>
                </a:solidFill>
                <a:latin typeface="Consolas"/>
              </a:rPr>
              <a:t>ผลที่คาดว่าจะได้: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• เรียน close timing ได้ดีขึ้น</a:t>
            </a:r>
          </a:p>
          <a:p>
            <a:r>
              <a:rPr sz="1100">
                <a:solidFill>
                  <a:srgbClr val="E4E4E7"/>
                </a:solidFill>
                <a:latin typeface="Consolas"/>
              </a:rPr>
              <a:t>• ไม่ต้องพึ่ง SL/TP มาก</a:t>
            </a:r>
          </a:p>
          <a:p>
            <a:r>
              <a:rPr sz="1100">
                <a:solidFill>
                  <a:srgbClr val="34D399"/>
                </a:solidFill>
                <a:latin typeface="Consolas"/>
              </a:rPr>
              <a:t>• Pure Agent PF น่าจะ &gt;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💡 Gradient signal ทุก bar = weights ที่เกี่ยวกับ "close timing" จะขยับได้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📈 9. ภาพรวมการเรียนรู้ตลอด 200K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ดู ep_rew_mean ตลอด training — แต่ละ phase มีอาการต่างกัน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1247120" cy="914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1717A"/>
                </a:solidFill>
                <a:latin typeface="Consolas"/>
              </a:rPr>
              <a:t>0 - 50K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Random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86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weights มั่ว · reward ใกล้ 0 · มี exploration เยอะ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1247120" cy="914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onsolas"/>
              </a:rPr>
              <a:t>50K - 100K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Learning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เริ่มเห็น pattern · reward ค่อยๆขึ้น · KL/Clip ปกติ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914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100K - 150K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Convergence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5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เก่งขึ้นชัด · reward stable · entropy ลดลง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onsolas"/>
              </a:rPr>
              <a:t>150K - 200K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760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Watch Out Phase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577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อาจ overfit · ถ้า reward ตก → popup เด้ง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</a:rPr>
              <a:t>🎯 สรุป — Train คืออะไร?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1 ประโยค + 5 ขั้นตอน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1280160"/>
          </a:xfrm>
          <a:prstGeom prst="roundRect">
            <a:avLst/>
          </a:prstGeom>
          <a:solidFill>
            <a:srgbClr val="272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BBF24"/>
                </a:solidFill>
              </a:rPr>
              <a:t>"Train = ป้อน features เข้า → ดูว่า action ที่เลือก
 ได้ reward ดีไหม → ขยับ weights ทุกตัวเล็กน้อย
 ให้ "เลือกแบบเดิม" บ่อยขึ้นเมื่อเจอ state คล้ายๆเดิม"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2103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4E4E7"/>
                </a:solidFill>
              </a:rPr>
              <a:t>ตลาด → ตัวเลข 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383280"/>
            <a:ext cx="2103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3520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</a:rPr>
              <a:t>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983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4E4E7"/>
                </a:solidFill>
              </a:rPr>
              <a:t>× weights → action prob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83280"/>
            <a:ext cx="2103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3520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923C"/>
                </a:solidFill>
              </a:rP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983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4E4E7"/>
                </a:solidFill>
              </a:rPr>
              <a:t>env บอกว่าดี/แย่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383280"/>
            <a:ext cx="2103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3520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72B6"/>
                </a:solidFill>
              </a:rPr>
              <a:t>Advantage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983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4E4E7"/>
                </a:solidFill>
              </a:rPr>
              <a:t>ดีกว่าค่าเฉลี่ยไหม?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383280"/>
            <a:ext cx="2103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3520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886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/>
              <a:t>⬇️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</a:rPr>
              <a:t>Backprop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983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4E4E7"/>
                </a:solidFill>
              </a:rPr>
              <a:t>ขยับ weights ลงเขา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ทำซ้ำ ~200K ครั้ง = Network จำ pattern ตลาดได้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</a:rPr>
              <a:t>🧠 RL Trading Pipeline · How Training 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1773</Words>
  <Application>Microsoft Office PowerPoint</Application>
  <PresentationFormat>Widescreen</PresentationFormat>
  <Paragraphs>269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Ohm Programmie</cp:lastModifiedBy>
  <cp:revision>1</cp:revision>
  <dcterms:created xsi:type="dcterms:W3CDTF">2013-01-27T09:14:16Z</dcterms:created>
  <dcterms:modified xsi:type="dcterms:W3CDTF">2026-05-07T13:57:25Z</dcterms:modified>
  <cp:category/>
</cp:coreProperties>
</file>