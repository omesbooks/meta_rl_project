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>
                <a:solidFill>
                  <a:srgbClr val="60A5FA"/>
                </a:solidFill>
              </a:rPr>
              <a:t>📊 RL Training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E4E4E7"/>
                </a:solidFill>
              </a:rPr>
              <a:t>อ่านค่าระหว่างเทรน — รู้ทันปัญหา ก่อนเสียเวลา 30 นาที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71717A"/>
                </a:solidFill>
              </a:rPr>
              <a:t>Healthy Metrics สำหรับ PPO + Stable-Baselines3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0"/>
              <a:t>🩺 📈 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1717A"/>
                </a:solidFill>
              </a:rPr>
              <a:t>Course Slides · 14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BBF24"/>
                </a:solidFill>
              </a:rPr>
              <a:t>🤔 ทำไมต้องดู Metrics?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1717A"/>
                </a:solidFill>
              </a:rPr>
              <a:t>เทรน RL ใช้เวลา 30 นาที - 3 ชั่วโมง — ถ้าเข้าใจ metrics จะรู้ว่า: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194560"/>
            <a:ext cx="11247120" cy="109728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3317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/>
              <a:t>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331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4D399"/>
                </a:solidFill>
              </a:rPr>
              <a:t>Training กำลังไปได้ดี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788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4E4E7"/>
                </a:solidFill>
              </a:rPr>
              <a:t>→ ปล่อยให้รันต่อไปจนจบ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474720"/>
            <a:ext cx="11247120" cy="109728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611879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/>
              <a:t>⚠️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61187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BBF24"/>
                </a:solidFill>
              </a:rPr>
              <a:t>มีอาการแปลกๆ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4069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4E4E7"/>
                </a:solidFill>
              </a:rPr>
              <a:t>→ หยุดทันที อย่าเสียเวลา ปรับแล้วเริ่มใหม่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754879"/>
            <a:ext cx="11247120" cy="109728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8920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/>
              <a:t>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892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F4444"/>
                </a:solidFill>
              </a:rPr>
              <a:t>Training พังแล้ว (collapse)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5349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4E4E7"/>
                </a:solidFill>
              </a:rPr>
              <a:t>→ Stop + Debug + Restart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BBF24"/>
                </a:solidFill>
              </a:rPr>
              <a:t>"Stop early, save time" — กฎข้อแรกของ ML Engineer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BBF24"/>
                </a:solidFill>
              </a:rPr>
              <a:t>📋 6 Metrics สำคัญ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71717A"/>
                </a:solidFill>
              </a:rPr>
              <a:t>ดูตัวเหล่านี้ในระหว่างเทรน — แต่ละตัวบอกคนละเรื่อง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3657600" cy="201168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/>
            <a:r>
              <a:rPr sz="3600"/>
              <a:t>💰</a:t>
            </a:r>
          </a:p>
          <a:p>
            <a:pPr algn="ctr"/>
            <a:r>
              <a:rPr sz="1500" b="1">
                <a:solidFill>
                  <a:srgbClr val="34D399"/>
                </a:solidFill>
                <a:latin typeface="Consolas"/>
              </a:rPr>
              <a:t>ep_rew_mean</a:t>
            </a:r>
          </a:p>
          <a:p>
            <a:pPr algn="ctr"/>
            <a:r>
              <a:rPr sz="1300">
                <a:solidFill>
                  <a:srgbClr val="E4E4E7"/>
                </a:solidFill>
              </a:rPr>
              <a:t>Reward เฉลี่ย</a:t>
            </a:r>
          </a:p>
          <a:p>
            <a:pPr algn="ctr"/>
            <a:r>
              <a:rPr sz="1100">
                <a:solidFill>
                  <a:srgbClr val="71717A"/>
                </a:solidFill>
              </a:rPr>
              <a:t>บอก: model เรียนได้ผลไหม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828800"/>
            <a:ext cx="3657600" cy="201168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/>
            <a:r>
              <a:rPr sz="3600"/>
              <a:t>📐</a:t>
            </a:r>
          </a:p>
          <a:p>
            <a:pPr algn="ctr"/>
            <a:r>
              <a:rPr sz="1500" b="1">
                <a:solidFill>
                  <a:srgbClr val="60A5FA"/>
                </a:solidFill>
                <a:latin typeface="Consolas"/>
              </a:rPr>
              <a:t>approx_kl</a:t>
            </a:r>
          </a:p>
          <a:p>
            <a:pPr algn="ctr"/>
            <a:r>
              <a:rPr sz="1300">
                <a:solidFill>
                  <a:srgbClr val="E4E4E7"/>
                </a:solidFill>
              </a:rPr>
              <a:t>Policy stability</a:t>
            </a:r>
          </a:p>
          <a:p>
            <a:pPr algn="ctr"/>
            <a:r>
              <a:rPr sz="1100">
                <a:solidFill>
                  <a:srgbClr val="71717A"/>
                </a:solidFill>
              </a:rPr>
              <a:t>บอก: เปลี่ยนเร็วไปไหม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828800"/>
            <a:ext cx="3657600" cy="201168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/>
            <a:r>
              <a:rPr sz="3600"/>
              <a:t>✂️</a:t>
            </a:r>
          </a:p>
          <a:p>
            <a:pPr algn="ctr"/>
            <a:r>
              <a:rPr sz="1500" b="1">
                <a:solidFill>
                  <a:srgbClr val="A78BFA"/>
                </a:solidFill>
                <a:latin typeface="Consolas"/>
              </a:rPr>
              <a:t>clip_fraction</a:t>
            </a:r>
          </a:p>
          <a:p>
            <a:pPr algn="ctr"/>
            <a:r>
              <a:rPr sz="1300">
                <a:solidFill>
                  <a:srgbClr val="E4E4E7"/>
                </a:solidFill>
              </a:rPr>
              <a:t>How much clipping</a:t>
            </a:r>
          </a:p>
          <a:p>
            <a:pPr algn="ctr"/>
            <a:r>
              <a:rPr sz="1100">
                <a:solidFill>
                  <a:srgbClr val="71717A"/>
                </a:solidFill>
              </a:rPr>
              <a:t>บอก: stable vs aggressive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023360"/>
            <a:ext cx="3657600" cy="201168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/>
            <a:r>
              <a:rPr sz="3600"/>
              <a:t>🎯</a:t>
            </a:r>
          </a:p>
          <a:p>
            <a:pPr algn="ctr"/>
            <a:r>
              <a:rPr sz="1500" b="1">
                <a:solidFill>
                  <a:srgbClr val="F472B6"/>
                </a:solidFill>
                <a:latin typeface="Consolas"/>
              </a:rPr>
              <a:t>explained_var</a:t>
            </a:r>
          </a:p>
          <a:p>
            <a:pPr algn="ctr"/>
            <a:r>
              <a:rPr sz="1300">
                <a:solidFill>
                  <a:srgbClr val="E4E4E7"/>
                </a:solidFill>
              </a:rPr>
              <a:t>Critic quality</a:t>
            </a:r>
          </a:p>
          <a:p>
            <a:pPr algn="ctr"/>
            <a:r>
              <a:rPr sz="1100">
                <a:solidFill>
                  <a:srgbClr val="71717A"/>
                </a:solidFill>
              </a:rPr>
              <a:t>บอก: ทาย value ได้แม่นไหม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4023360"/>
            <a:ext cx="3657600" cy="201168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/>
            <a:r>
              <a:rPr sz="3600"/>
              <a:t>🔍</a:t>
            </a:r>
          </a:p>
          <a:p>
            <a:pPr algn="ctr"/>
            <a:r>
              <a:rPr sz="1500" b="1">
                <a:solidFill>
                  <a:srgbClr val="FB923C"/>
                </a:solidFill>
                <a:latin typeface="Consolas"/>
              </a:rPr>
              <a:t>entropy_loss</a:t>
            </a:r>
          </a:p>
          <a:p>
            <a:pPr algn="ctr"/>
            <a:r>
              <a:rPr sz="1300">
                <a:solidFill>
                  <a:srgbClr val="E4E4E7"/>
                </a:solidFill>
              </a:rPr>
              <a:t>Exploration level</a:t>
            </a:r>
          </a:p>
          <a:p>
            <a:pPr algn="ctr"/>
            <a:r>
              <a:rPr sz="1100">
                <a:solidFill>
                  <a:srgbClr val="71717A"/>
                </a:solidFill>
              </a:rPr>
              <a:t>บอก: explore vs exploit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4023360"/>
            <a:ext cx="3657600" cy="201168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/>
            <a:r>
              <a:rPr sz="3600"/>
              <a:t>📉</a:t>
            </a:r>
          </a:p>
          <a:p>
            <a:pPr algn="ctr"/>
            <a:r>
              <a:rPr sz="1500" b="1">
                <a:solidFill>
                  <a:srgbClr val="FBBF24"/>
                </a:solidFill>
                <a:latin typeface="Consolas"/>
              </a:rPr>
              <a:t>value_loss</a:t>
            </a:r>
          </a:p>
          <a:p>
            <a:pPr algn="ctr"/>
            <a:r>
              <a:rPr sz="1300">
                <a:solidFill>
                  <a:srgbClr val="E4E4E7"/>
                </a:solidFill>
              </a:rPr>
              <a:t>Critic learning</a:t>
            </a:r>
          </a:p>
          <a:p>
            <a:pPr algn="ctr"/>
            <a:r>
              <a:rPr sz="1100">
                <a:solidFill>
                  <a:srgbClr val="71717A"/>
                </a:solidFill>
              </a:rPr>
              <a:t>บอก: critic ฝึกได้ดีไหม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34D399"/>
                </a:solidFill>
              </a:rPr>
              <a:t>💰 ep_rew_mean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1717A"/>
                </a:solidFill>
              </a:rPr>
              <a:t>Reward เฉลี่ยต่อ episode — ตัวสำคัญที่สุด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4E4E7"/>
                </a:solidFill>
              </a:rPr>
              <a:t>ทำหน้าที่: บอกว่า agent เรียนรู้ได้ผลไหม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</a:rPr>
              <a:t>Pattern ที่ควรเห็น: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926080"/>
            <a:ext cx="3657600" cy="32004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/>
            <a:r>
              <a:rPr sz="2000" b="1">
                <a:solidFill>
                  <a:srgbClr val="34D399"/>
                </a:solidFill>
              </a:rPr>
              <a:t>📈 ขึ้นเรื่อยๆ</a:t>
            </a:r>
          </a:p>
          <a:p>
            <a:pPr algn="ctr"/>
            <a:r>
              <a:rPr sz="1200">
                <a:solidFill>
                  <a:srgbClr val="E4E4E7"/>
                </a:solidFill>
                <a:latin typeface="Consolas"/>
              </a:rPr>
              <a:t>Step 0:  -0.5
Step 50k: 0.5
Step 100k: 1.5
Step 200k: 2.5</a:t>
            </a:r>
          </a:p>
          <a:p>
            <a:pPr algn="ctr"/>
            <a:r>
              <a:rPr sz="1300">
                <a:solidFill>
                  <a:srgbClr val="34D399"/>
                </a:solidFill>
              </a:rPr>
              <a:t>✅ กำลังเรียนรู้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926080"/>
            <a:ext cx="3657600" cy="32004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/>
            <a:r>
              <a:rPr sz="2000" b="1">
                <a:solidFill>
                  <a:srgbClr val="FBBF24"/>
                </a:solidFill>
              </a:rPr>
              <a:t>➡️ ทรงตัว</a:t>
            </a:r>
          </a:p>
          <a:p>
            <a:pPr algn="ctr"/>
            <a:r>
              <a:rPr sz="1200">
                <a:solidFill>
                  <a:srgbClr val="E4E4E7"/>
                </a:solidFill>
                <a:latin typeface="Consolas"/>
              </a:rPr>
              <a:t>Step 0:  -0.1
Step 50k: 0.0
Step 100k: 0.0
Step 200k: 0.0</a:t>
            </a:r>
          </a:p>
          <a:p>
            <a:pPr algn="ctr"/>
            <a:r>
              <a:rPr sz="1300">
                <a:solidFill>
                  <a:srgbClr val="FBBF24"/>
                </a:solidFill>
              </a:rPr>
              <a:t>🟡 ไม่เรียน → check approx_kl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926080"/>
            <a:ext cx="3657600" cy="32004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/>
            <a:r>
              <a:rPr sz="2000" b="1">
                <a:solidFill>
                  <a:srgbClr val="EF4444"/>
                </a:solidFill>
              </a:rPr>
              <a:t>📉 ลดลง / ลบ</a:t>
            </a:r>
          </a:p>
          <a:p>
            <a:pPr algn="ctr"/>
            <a:r>
              <a:rPr sz="1200">
                <a:solidFill>
                  <a:srgbClr val="E4E4E7"/>
                </a:solidFill>
                <a:latin typeface="Consolas"/>
              </a:rPr>
              <a:t>Step 0:  -0.5
Step 50k: -1.0
Step 100k: -2.0
Step 200k: -5.0</a:t>
            </a:r>
          </a:p>
          <a:p>
            <a:pPr algn="ctr"/>
            <a:r>
              <a:rPr sz="1300">
                <a:solidFill>
                  <a:srgbClr val="EF4444"/>
                </a:solidFill>
              </a:rPr>
              <a:t>❌ Collapse → Stop!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60A5FA"/>
                </a:solidFill>
              </a:rPr>
              <a:t>📐 approx_kl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1717A"/>
                </a:solidFill>
              </a:rPr>
              <a:t>KL Divergence — Policy ใหม่ต่างจาก Policy เก่าแค่ไหน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4E4E7"/>
                </a:solidFill>
              </a:rPr>
              <a:t>"Proximal" ใน PPO = ห้าม Policy เปลี่ยนเร็วเกิน → approx_kl คือตัววัด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BBF24"/>
                </a:solidFill>
              </a:rPr>
              <a:t>🩺 Healthy Ranges: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017520"/>
            <a:ext cx="11247120" cy="41148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0632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  <a:latin typeface="Consolas"/>
              </a:rPr>
              <a:t>0.005-0.02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30632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4E4E7"/>
                </a:solidFill>
              </a:rPr>
              <a:t>🟢 ดีมาก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06323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1717A"/>
                </a:solidFill>
              </a:rPr>
              <a:t>Smooth, stable learning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474720"/>
            <a:ext cx="11247120" cy="41148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5204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  <a:latin typeface="Consolas"/>
              </a:rPr>
              <a:t>0.02-0.05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5204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4E4E7"/>
                </a:solidFill>
              </a:rPr>
              <a:t>🟢 ดี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52043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1717A"/>
                </a:solidFill>
              </a:rPr>
              <a:t>Normal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31920"/>
            <a:ext cx="11247120" cy="41148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9776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Consolas"/>
              </a:rPr>
              <a:t>0.05-0.10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9776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4E4E7"/>
                </a:solidFill>
              </a:rPr>
              <a:t>🟡 พอใช้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97763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1717A"/>
                </a:solidFill>
              </a:rPr>
              <a:t>Watch carefully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389120"/>
            <a:ext cx="11247120" cy="41148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434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F4444"/>
                </a:solidFill>
                <a:latin typeface="Consolas"/>
              </a:rPr>
              <a:t>0.10-0.30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434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4E4E7"/>
                </a:solidFill>
              </a:rPr>
              <a:t>🔴 แย่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44348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1717A"/>
                </a:solidFill>
              </a:rPr>
              <a:t>Unstable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846320"/>
            <a:ext cx="11247120" cy="41148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892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F4444"/>
                </a:solidFill>
                <a:latin typeface="Consolas"/>
              </a:rPr>
              <a:t>&gt; 0.30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892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4E4E7"/>
                </a:solidFill>
              </a:rPr>
              <a:t>💥 พัง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4892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1717A"/>
                </a:solidFill>
              </a:rPr>
              <a:t>Policy collapse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486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F4444"/>
                </a:solidFill>
              </a:rPr>
              <a:t>⚠️  ของคุณตอนนี้ approx_kl = 0.51 → 10× เกิน healthy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1717A"/>
                </a:solidFill>
              </a:rPr>
              <a:t>   วิธีแก้: ลด window_size, ลด learning_rate, ลด clip_range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A78BFA"/>
                </a:solidFill>
              </a:rPr>
              <a:t>✂️ clip_fraction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1717A"/>
                </a:solidFill>
              </a:rPr>
              <a:t>% ของ updates ที่โดน clip (ห้ามเปลี่ยนเกิน 20%)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11247120" cy="22860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74320"/>
          <a:lstStyle/>
          <a:p>
            <a:pPr algn="ctr"/>
            <a:r>
              <a:rPr sz="1800" b="1">
                <a:solidFill>
                  <a:srgbClr val="A78BFA"/>
                </a:solidFill>
              </a:rPr>
              <a:t>💡 เปรียบเหมือนการบังคับเลี้ยวรถ:</a:t>
            </a:r>
          </a:p>
          <a:p>
            <a:r>
              <a:rPr sz="1300">
                <a:solidFill>
                  <a:srgbClr val="E4E4E7"/>
                </a:solidFill>
                <a:latin typeface="Consolas"/>
              </a:rPr>
              <a:t/>
            </a:r>
          </a:p>
          <a:p>
            <a:r>
              <a:rPr sz="1300">
                <a:solidFill>
                  <a:srgbClr val="E4E4E7"/>
                </a:solidFill>
                <a:latin typeface="Consolas"/>
              </a:rPr>
              <a:t>  clip_range = 0.2  →  หมุนพวงมาลัยได้สูงสุด 20% ต่อครั้ง</a:t>
            </a:r>
          </a:p>
          <a:p>
            <a:r>
              <a:rPr sz="1300">
                <a:solidFill>
                  <a:srgbClr val="E4E4E7"/>
                </a:solidFill>
                <a:latin typeface="Consolas"/>
              </a:rPr>
              <a:t>  clip_fraction = 0.05  →  5% ของครั้งที่เลี้ยวเต็ม (= 95% เลี้ยวเบาๆ)  ✅</a:t>
            </a:r>
          </a:p>
          <a:p>
            <a:r>
              <a:rPr sz="1300">
                <a:solidFill>
                  <a:srgbClr val="E4E4E7"/>
                </a:solidFill>
                <a:latin typeface="Consolas"/>
              </a:rPr>
              <a:t>  clip_fraction = 0.50  →  50% ของครั้งที่เลี้ยวสุด (= ขับห่ามมาก!)   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BBF24"/>
                </a:solidFill>
              </a:rPr>
              <a:t>🩺 Healthy Ranges: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754880"/>
            <a:ext cx="11247120" cy="36576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7823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  <a:latin typeface="Consolas"/>
              </a:rPr>
              <a:t>0.0 - 0.1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47823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4E4E7"/>
                </a:solidFill>
              </a:rPr>
              <a:t>🟢 ดีมาก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478231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1717A"/>
                </a:solidFill>
              </a:rPr>
              <a:t>Stable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166360"/>
            <a:ext cx="11247120" cy="36576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1937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  <a:latin typeface="Consolas"/>
              </a:rPr>
              <a:t>0.1 - 0.2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51937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4E4E7"/>
                </a:solidFill>
              </a:rPr>
              <a:t>🟢 ดี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51937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1717A"/>
                </a:solidFill>
              </a:rPr>
              <a:t>Normal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577840"/>
            <a:ext cx="11247120" cy="36576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6052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Consolas"/>
              </a:rPr>
              <a:t>0.2 - 0.3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56052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4E4E7"/>
                </a:solidFill>
              </a:rPr>
              <a:t>🟡 กลาง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56052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1717A"/>
                </a:solidFill>
              </a:rPr>
              <a:t>Borderline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89320"/>
            <a:ext cx="11247120" cy="36576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0167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F4444"/>
                </a:solidFill>
                <a:latin typeface="Consolas"/>
              </a:rPr>
              <a:t>&gt; 0.3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60167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4E4E7"/>
                </a:solidFill>
              </a:rPr>
              <a:t>🔴 แย่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60167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1717A"/>
                </a:solidFill>
              </a:rPr>
              <a:t>Policy unstable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472B6"/>
                </a:solidFill>
              </a:rPr>
              <a:t>🎯 explained_variance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1717A"/>
                </a:solidFill>
              </a:rPr>
              <a:t>Critic ทาย expected reward ได้แม่นแค่ไหน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4E4E7"/>
                </a:solidFill>
              </a:rPr>
              <a:t>Critic = NN ตัวที่ 2 ใน PPO — ทำนาย 'state นี้คาดว่าได้ reward เท่าไหร่'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BBF24"/>
                </a:solidFill>
              </a:rPr>
              <a:t>🩺 Healthy Ranges: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017520"/>
            <a:ext cx="11247120" cy="41148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0632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  <a:latin typeface="Consolas"/>
              </a:rPr>
              <a:t>0.8 - 1.0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30632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4E4E7"/>
                </a:solidFill>
              </a:rPr>
              <a:t>🟢 ดีมาก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06323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1717A"/>
                </a:solidFill>
              </a:rPr>
              <a:t>Critic ทายแม่น 80%+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474720"/>
            <a:ext cx="11247120" cy="41148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5204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  <a:latin typeface="Consolas"/>
              </a:rPr>
              <a:t>0.5 - 0.8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5204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4E4E7"/>
                </a:solidFill>
              </a:rPr>
              <a:t>🟢 ดี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52043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1717A"/>
                </a:solidFill>
              </a:rPr>
              <a:t>Useful predictions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31920"/>
            <a:ext cx="11247120" cy="41148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9776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Consolas"/>
              </a:rPr>
              <a:t>0.2 - 0.5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9776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4E4E7"/>
                </a:solidFill>
              </a:rPr>
              <a:t>🟡 พอใช้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97763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1717A"/>
                </a:solidFill>
              </a:rPr>
              <a:t>Marginal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389120"/>
            <a:ext cx="11247120" cy="41148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434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F4444"/>
                </a:solidFill>
                <a:latin typeface="Consolas"/>
              </a:rPr>
              <a:t>0 - 0.2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434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4E4E7"/>
                </a:solidFill>
              </a:rPr>
              <a:t>🔴 แย่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44348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1717A"/>
                </a:solidFill>
              </a:rPr>
              <a:t>Critic ใช้ไม่ได้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846320"/>
            <a:ext cx="11247120" cy="41148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892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F4444"/>
                </a:solidFill>
                <a:latin typeface="Consolas"/>
              </a:rPr>
              <a:t>&lt; 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892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4E4E7"/>
                </a:solidFill>
              </a:rPr>
              <a:t>💥 พัง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4892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1717A"/>
                </a:solidFill>
              </a:rPr>
              <a:t>ทายแย่กว่าค่าเฉลี่ย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486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</a:rPr>
              <a:t>💡 Pattern: เริ่มต้น 0 → เพิ่มขึ้นเรื่อยๆ → 0.7+ ตอนจบ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1717A"/>
                </a:solidFill>
              </a:rPr>
              <a:t>    ถ้า ev &lt; 0 = critic ทำลาย training → อาจต้อง restart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B923C"/>
                </a:solidFill>
              </a:rPr>
              <a:t>🔍 entropy_loss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1717A"/>
                </a:solidFill>
              </a:rPr>
              <a:t>ระดับการสำรวจ (exploration) ของ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4E4E7"/>
                </a:solidFill>
              </a:rPr>
              <a:t>entropy สูง = สำรวจหลาย actions  ·  entropy ต่ำ = มั่นใจ ใช้ action เดิม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1717A"/>
                </a:solidFill>
              </a:rPr>
              <a:t>หมายเหตุ: รายงานเป็น negative loss → ค่าลบมากกว่า = exploration มากกว่า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BBF24"/>
                </a:solidFill>
              </a:rPr>
              <a:t>📅 Healthy Pattern ตลอดการเทรน: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657600"/>
            <a:ext cx="3657600" cy="22860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274320"/>
          <a:lstStyle/>
          <a:p>
            <a:pPr algn="ctr"/>
            <a:r>
              <a:rPr sz="2000" b="1">
                <a:solidFill>
                  <a:srgbClr val="34D399"/>
                </a:solidFill>
              </a:rPr>
              <a:t>Early
0-30%</a:t>
            </a:r>
          </a:p>
          <a:p>
            <a:pPr algn="ctr"/>
            <a:r>
              <a:rPr sz="1800">
                <a:solidFill>
                  <a:srgbClr val="E4E4E7"/>
                </a:solidFill>
                <a:latin typeface="Consolas"/>
              </a:rPr>
              <a:t>-1.2 to -1.0</a:t>
            </a:r>
          </a:p>
          <a:p>
            <a:pPr algn="ctr"/>
            <a:r>
              <a:rPr sz="1400">
                <a:solidFill>
                  <a:srgbClr val="34D399"/>
                </a:solidFill>
              </a:rPr>
              <a:t>🌱 สำรวจมาก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3657600"/>
            <a:ext cx="3657600" cy="22860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274320"/>
          <a:lstStyle/>
          <a:p>
            <a:pPr algn="ctr"/>
            <a:r>
              <a:rPr sz="2000" b="1">
                <a:solidFill>
                  <a:srgbClr val="60A5FA"/>
                </a:solidFill>
              </a:rPr>
              <a:t>Mid
30-70%</a:t>
            </a:r>
          </a:p>
          <a:p>
            <a:pPr algn="ctr"/>
            <a:r>
              <a:rPr sz="1800">
                <a:solidFill>
                  <a:srgbClr val="E4E4E7"/>
                </a:solidFill>
                <a:latin typeface="Consolas"/>
              </a:rPr>
              <a:t>-0.8 to -0.5</a:t>
            </a:r>
          </a:p>
          <a:p>
            <a:pPr algn="ctr"/>
            <a:r>
              <a:rPr sz="1400">
                <a:solidFill>
                  <a:srgbClr val="60A5FA"/>
                </a:solidFill>
              </a:rPr>
              <a:t>⚖️ Balance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3657600"/>
            <a:ext cx="3657600" cy="22860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274320"/>
          <a:lstStyle/>
          <a:p>
            <a:pPr algn="ctr"/>
            <a:r>
              <a:rPr sz="2000" b="1">
                <a:solidFill>
                  <a:srgbClr val="A78BFA"/>
                </a:solidFill>
              </a:rPr>
              <a:t>Late
70-100%</a:t>
            </a:r>
          </a:p>
          <a:p>
            <a:pPr algn="ctr"/>
            <a:r>
              <a:rPr sz="1800">
                <a:solidFill>
                  <a:srgbClr val="E4E4E7"/>
                </a:solidFill>
                <a:latin typeface="Consolas"/>
              </a:rPr>
              <a:t>-0.5 to -0.2</a:t>
            </a:r>
          </a:p>
          <a:p>
            <a:pPr algn="ctr"/>
            <a:r>
              <a:rPr sz="1400">
                <a:solidFill>
                  <a:srgbClr val="A78BFA"/>
                </a:solidFill>
              </a:rPr>
              <a:t>🎯 Exploit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1717A"/>
                </a:solidFill>
              </a:rPr>
              <a:t>🎛️ ปรับด้วย ent_coef (default 0.01) — ถ้าน้อยเกิน policy collapse เร็ว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BBF24"/>
                </a:solidFill>
              </a:rPr>
              <a:t>📉 value_loss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1717A"/>
                </a:solidFill>
              </a:rPr>
              <a:t>Critic Training Loss (Mean Squared Error)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4E4E7"/>
                </a:solidFill>
              </a:rPr>
              <a:t>ความผิดพลาดของ Critic เมื่อทาย expected reward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0A5FA"/>
                </a:solidFill>
                <a:latin typeface="Consolas"/>
              </a:rPr>
              <a:t>value_loss = (V_predicted − V_actual)²  → ยิ่งต่ำยิ่งดี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BBF24"/>
                </a:solidFill>
              </a:rPr>
              <a:t>🩺 Healthy Ranges: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657600"/>
            <a:ext cx="11247120" cy="4572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712463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  <a:latin typeface="Consolas"/>
              </a:rPr>
              <a:t>&lt; 0.01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3712463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4E4E7"/>
                </a:solidFill>
              </a:rPr>
              <a:t>🟢 ดี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3712463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1717A"/>
                </a:solidFill>
              </a:rPr>
              <a:t>Critic เรียนได้ดี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160520"/>
            <a:ext cx="11247120" cy="4572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215383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Consolas"/>
              </a:rPr>
              <a:t>0.01 - 0.1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4215383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4E4E7"/>
                </a:solidFill>
              </a:rPr>
              <a:t>🟡 กลาง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4215383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1717A"/>
                </a:solidFill>
              </a:rPr>
              <a:t>OK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663440"/>
            <a:ext cx="11247120" cy="4572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718303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F4444"/>
                </a:solidFill>
                <a:latin typeface="Consolas"/>
              </a:rPr>
              <a:t>&gt; 0.1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718303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4E4E7"/>
                </a:solidFill>
              </a:rPr>
              <a:t>🔴 แย่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4718303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1717A"/>
                </a:solidFill>
              </a:rPr>
              <a:t>Critic struggling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669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✅ ของคุณตอนนี้: 0.000393 → ดีเยี่ยม! Critic ทำงานปกติ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BBF24"/>
                </a:solidFill>
              </a:rPr>
              <a:t>📋 Healthy Metrics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71717A"/>
                </a:solidFill>
              </a:rPr>
              <a:t>ตารางสรุปค่าที่ปลอดภัย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11247120" cy="457200"/>
          </a:xfrm>
          <a:prstGeom prst="roundRect">
            <a:avLst/>
          </a:prstGeom>
          <a:solidFill>
            <a:srgbClr val="27272A"/>
          </a:solidFill>
          <a:ln w="6350">
            <a:solidFill>
              <a:srgbClr val="717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</a:rPr>
              <a:t>Metric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920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</a:rPr>
              <a:t>🟢 Healthy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1920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</a:rPr>
              <a:t>🟡 Warning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1920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</a:rPr>
              <a:t>🔴 Bad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1920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</a:rPr>
              <a:t>ของคุณ (ปัจจุบัน)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31720"/>
            <a:ext cx="11247120" cy="411480"/>
          </a:xfrm>
          <a:prstGeom prst="roundRect">
            <a:avLst/>
          </a:prstGeom>
          <a:solidFill>
            <a:srgbClr val="18181B"/>
          </a:solidFill>
          <a:ln w="6350">
            <a:solidFill>
              <a:srgbClr val="717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7743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0A5FA"/>
                </a:solidFill>
                <a:latin typeface="Consolas"/>
              </a:rPr>
              <a:t>approx_kl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37743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4D399"/>
                </a:solidFill>
                <a:latin typeface="Consolas"/>
              </a:rPr>
              <a:t>0.005-0.05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37743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BBF24"/>
                </a:solidFill>
                <a:latin typeface="Consolas"/>
              </a:rPr>
              <a:t>0.05-0.15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37743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F4444"/>
                </a:solidFill>
                <a:latin typeface="Consolas"/>
              </a:rPr>
              <a:t>&gt; 0.15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237743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F4444"/>
                </a:solidFill>
                <a:latin typeface="Consolas"/>
              </a:rPr>
              <a:t>0.51 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788920"/>
            <a:ext cx="11247120" cy="411480"/>
          </a:xfrm>
          <a:prstGeom prst="roundRect">
            <a:avLst/>
          </a:prstGeom>
          <a:solidFill>
            <a:srgbClr val="27272A"/>
          </a:solidFill>
          <a:ln w="6350">
            <a:solidFill>
              <a:srgbClr val="717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83463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0A5FA"/>
                </a:solidFill>
                <a:latin typeface="Consolas"/>
              </a:rPr>
              <a:t>clip_fraction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283463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4D399"/>
                </a:solidFill>
                <a:latin typeface="Consolas"/>
              </a:rPr>
              <a:t>&lt; 0.2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83463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BBF24"/>
                </a:solidFill>
                <a:latin typeface="Consolas"/>
              </a:rPr>
              <a:t>0.2-0.3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283463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F4444"/>
                </a:solidFill>
                <a:latin typeface="Consolas"/>
              </a:rPr>
              <a:t>&gt; 0.3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283463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F4444"/>
                </a:solidFill>
                <a:latin typeface="Consolas"/>
              </a:rPr>
              <a:t>0.52 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246120"/>
            <a:ext cx="11247120" cy="411480"/>
          </a:xfrm>
          <a:prstGeom prst="roundRect">
            <a:avLst/>
          </a:prstGeom>
          <a:solidFill>
            <a:srgbClr val="18181B"/>
          </a:solidFill>
          <a:ln w="6350">
            <a:solidFill>
              <a:srgbClr val="717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29183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0A5FA"/>
                </a:solidFill>
                <a:latin typeface="Consolas"/>
              </a:rPr>
              <a:t>explained_var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329183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4D399"/>
                </a:solidFill>
                <a:latin typeface="Consolas"/>
              </a:rPr>
              <a:t>&gt; 0.5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329183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BBF24"/>
                </a:solidFill>
                <a:latin typeface="Consolas"/>
              </a:rPr>
              <a:t>0.2-0.5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329183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F4444"/>
                </a:solidFill>
                <a:latin typeface="Consolas"/>
              </a:rPr>
              <a:t>&lt; 0.2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329183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Consolas"/>
              </a:rPr>
              <a:t>0.50 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703320"/>
            <a:ext cx="11247120" cy="411480"/>
          </a:xfrm>
          <a:prstGeom prst="roundRect">
            <a:avLst/>
          </a:prstGeom>
          <a:solidFill>
            <a:srgbClr val="27272A"/>
          </a:solidFill>
          <a:ln w="6350">
            <a:solidFill>
              <a:srgbClr val="717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74903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0A5FA"/>
                </a:solidFill>
                <a:latin typeface="Consolas"/>
              </a:rPr>
              <a:t>entropy_loss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4640" y="374903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4D399"/>
                </a:solidFill>
                <a:latin typeface="Consolas"/>
              </a:rPr>
              <a:t>-1 to -0.3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374903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BBF24"/>
                </a:solidFill>
                <a:latin typeface="Consolas"/>
              </a:rPr>
              <a:t>-0.3 to -0.1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374903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F4444"/>
                </a:solidFill>
                <a:latin typeface="Consolas"/>
              </a:rPr>
              <a:t>&gt; -0.1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374903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Consolas"/>
              </a:rPr>
              <a:t>-0.55 🟡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160520"/>
            <a:ext cx="11247120" cy="411480"/>
          </a:xfrm>
          <a:prstGeom prst="roundRect">
            <a:avLst/>
          </a:prstGeom>
          <a:solidFill>
            <a:srgbClr val="18181B"/>
          </a:solidFill>
          <a:ln w="6350">
            <a:solidFill>
              <a:srgbClr val="717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206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0A5FA"/>
                </a:solidFill>
                <a:latin typeface="Consolas"/>
              </a:rPr>
              <a:t>value_loss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34640" y="4206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4D399"/>
                </a:solidFill>
                <a:latin typeface="Consolas"/>
              </a:rPr>
              <a:t>&lt; 0.01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4206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BBF24"/>
                </a:solidFill>
                <a:latin typeface="Consolas"/>
              </a:rPr>
              <a:t>0.01-0.1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6640" y="4206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F4444"/>
                </a:solidFill>
                <a:latin typeface="Consolas"/>
              </a:rPr>
              <a:t>&gt; 0.1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4206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  <a:latin typeface="Consolas"/>
              </a:rPr>
              <a:t>0.0004 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486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F4444"/>
                </a:solidFill>
              </a:rPr>
              <a:t>🩺 Diagnosis: Window=50 ใหญ่เกิน → policy unstable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4D399"/>
                </a:solidFill>
              </a:rPr>
              <a:t>💊 แก้: ลด window=10 (default) → metrics ทุกตัวกลับมา healthy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34D399"/>
                </a:solidFill>
              </a:rPr>
              <a:t>✅ Healthy Training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71717A"/>
                </a:solidFill>
              </a:rPr>
              <a:t>rl_v3 หลังเทรน 200k steps — ค่าทุกตัวอยู่ใน healthy range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3657600" cy="13716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/>
            <a:r>
              <a:rPr sz="1300">
                <a:solidFill>
                  <a:srgbClr val="71717A"/>
                </a:solidFill>
              </a:rPr>
              <a:t>ep_rew_mean</a:t>
            </a:r>
          </a:p>
          <a:p>
            <a:r>
              <a:rPr sz="2800" b="1">
                <a:solidFill>
                  <a:srgbClr val="34D399"/>
                </a:solidFill>
                <a:latin typeface="Consolas"/>
              </a:rPr>
              <a:t>+5.24</a:t>
            </a:r>
          </a:p>
          <a:p>
            <a:r>
              <a:rPr sz="1100">
                <a:solidFill>
                  <a:srgbClr val="E4E4E7"/>
                </a:solidFill>
              </a:rPr>
              <a:t>✅ positive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2011680"/>
            <a:ext cx="3657600" cy="13716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/>
            <a:r>
              <a:rPr sz="1300">
                <a:solidFill>
                  <a:srgbClr val="71717A"/>
                </a:solidFill>
              </a:rPr>
              <a:t>approx_kl</a:t>
            </a:r>
          </a:p>
          <a:p>
            <a:r>
              <a:rPr sz="2800" b="1">
                <a:solidFill>
                  <a:srgbClr val="34D399"/>
                </a:solidFill>
                <a:latin typeface="Consolas"/>
              </a:rPr>
              <a:t>0.012</a:t>
            </a:r>
          </a:p>
          <a:p>
            <a:r>
              <a:rPr sz="1100">
                <a:solidFill>
                  <a:srgbClr val="E4E4E7"/>
                </a:solidFill>
              </a:rPr>
              <a:t>✅ smooth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2011680"/>
            <a:ext cx="3657600" cy="13716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/>
            <a:r>
              <a:rPr sz="1300">
                <a:solidFill>
                  <a:srgbClr val="71717A"/>
                </a:solidFill>
              </a:rPr>
              <a:t>clip_fraction</a:t>
            </a:r>
          </a:p>
          <a:p>
            <a:r>
              <a:rPr sz="2800" b="1">
                <a:solidFill>
                  <a:srgbClr val="34D399"/>
                </a:solidFill>
                <a:latin typeface="Consolas"/>
              </a:rPr>
              <a:t>0.08</a:t>
            </a:r>
          </a:p>
          <a:p>
            <a:r>
              <a:rPr sz="1100">
                <a:solidFill>
                  <a:srgbClr val="E4E4E7"/>
                </a:solidFill>
              </a:rPr>
              <a:t>✅ 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566160"/>
            <a:ext cx="3657600" cy="13716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/>
            <a:r>
              <a:rPr sz="1300">
                <a:solidFill>
                  <a:srgbClr val="71717A"/>
                </a:solidFill>
              </a:rPr>
              <a:t>explained_variance</a:t>
            </a:r>
          </a:p>
          <a:p>
            <a:r>
              <a:rPr sz="2800" b="1">
                <a:solidFill>
                  <a:srgbClr val="34D399"/>
                </a:solidFill>
                <a:latin typeface="Consolas"/>
              </a:rPr>
              <a:t>0.74</a:t>
            </a:r>
          </a:p>
          <a:p>
            <a:r>
              <a:rPr sz="1100">
                <a:solidFill>
                  <a:srgbClr val="E4E4E7"/>
                </a:solidFill>
              </a:rPr>
              <a:t>✅ good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3566160"/>
            <a:ext cx="3657600" cy="13716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/>
            <a:r>
              <a:rPr sz="1300">
                <a:solidFill>
                  <a:srgbClr val="71717A"/>
                </a:solidFill>
              </a:rPr>
              <a:t>entropy_loss</a:t>
            </a:r>
          </a:p>
          <a:p>
            <a:r>
              <a:rPr sz="2800" b="1">
                <a:solidFill>
                  <a:srgbClr val="34D399"/>
                </a:solidFill>
                <a:latin typeface="Consolas"/>
              </a:rPr>
              <a:t>-1.35</a:t>
            </a:r>
          </a:p>
          <a:p>
            <a:r>
              <a:rPr sz="1100">
                <a:solidFill>
                  <a:srgbClr val="E4E4E7"/>
                </a:solidFill>
              </a:rPr>
              <a:t>✅ exploring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3566160"/>
            <a:ext cx="3657600" cy="13716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/>
            <a:r>
              <a:rPr sz="1300">
                <a:solidFill>
                  <a:srgbClr val="71717A"/>
                </a:solidFill>
              </a:rPr>
              <a:t>value_loss</a:t>
            </a:r>
          </a:p>
          <a:p>
            <a:r>
              <a:rPr sz="2800" b="1">
                <a:solidFill>
                  <a:srgbClr val="34D399"/>
                </a:solidFill>
                <a:latin typeface="Consolas"/>
              </a:rPr>
              <a:t>0.0008</a:t>
            </a:r>
          </a:p>
          <a:p>
            <a:r>
              <a:rPr sz="1100">
                <a:solidFill>
                  <a:srgbClr val="E4E4E7"/>
                </a:solidFill>
              </a:rPr>
              <a:t>✅ excellent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303520"/>
            <a:ext cx="11247120" cy="118872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82880"/>
          <a:lstStyle/>
          <a:p>
            <a:pPr algn="ctr"/>
            <a:r>
              <a:rPr sz="1800" b="1">
                <a:solidFill>
                  <a:srgbClr val="34D399"/>
                </a:solidFill>
              </a:rPr>
              <a:t>🎯 Backtest Result:</a:t>
            </a:r>
          </a:p>
          <a:p>
            <a:r>
              <a:rPr sz="1400">
                <a:solidFill>
                  <a:srgbClr val="E4E4E7"/>
                </a:solidFill>
                <a:latin typeface="Consolas"/>
              </a:rPr>
              <a:t>  PF = 1.02 · WR = 52.4% · Return = +1.92% · Max DD = -8.6%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F4444"/>
                </a:solidFill>
              </a:rPr>
              <a:t>⚠️  Unhealthy Training (ของคุณตอนนี้)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71717A"/>
                </a:solidFill>
              </a:rPr>
              <a:t>rl_v3_new กับ window=50 — มีอาการแปลกๆ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3657600" cy="13716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/>
            <a:r>
              <a:rPr sz="1300">
                <a:solidFill>
                  <a:srgbClr val="71717A"/>
                </a:solidFill>
              </a:rPr>
              <a:t>approx_kl</a:t>
            </a:r>
          </a:p>
          <a:p>
            <a:r>
              <a:rPr sz="2800" b="1">
                <a:solidFill>
                  <a:srgbClr val="EF4444"/>
                </a:solidFill>
                <a:latin typeface="Consolas"/>
              </a:rPr>
              <a:t>0.51</a:t>
            </a:r>
          </a:p>
          <a:p>
            <a:r>
              <a:rPr sz="1100">
                <a:solidFill>
                  <a:srgbClr val="E4E4E7"/>
                </a:solidFill>
              </a:rPr>
              <a:t>🔴 10× เกิน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2011680"/>
            <a:ext cx="3657600" cy="13716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/>
            <a:r>
              <a:rPr sz="1300">
                <a:solidFill>
                  <a:srgbClr val="71717A"/>
                </a:solidFill>
              </a:rPr>
              <a:t>clip_fraction</a:t>
            </a:r>
          </a:p>
          <a:p>
            <a:r>
              <a:rPr sz="2800" b="1">
                <a:solidFill>
                  <a:srgbClr val="EF4444"/>
                </a:solidFill>
                <a:latin typeface="Consolas"/>
              </a:rPr>
              <a:t>0.52</a:t>
            </a:r>
          </a:p>
          <a:p>
            <a:r>
              <a:rPr sz="1100">
                <a:solidFill>
                  <a:srgbClr val="E4E4E7"/>
                </a:solidFill>
              </a:rPr>
              <a:t>🔴 unstable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2011680"/>
            <a:ext cx="3657600" cy="13716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/>
            <a:r>
              <a:rPr sz="1300">
                <a:solidFill>
                  <a:srgbClr val="71717A"/>
                </a:solidFill>
              </a:rPr>
              <a:t>explained_variance</a:t>
            </a:r>
          </a:p>
          <a:p>
            <a:r>
              <a:rPr sz="2800" b="1">
                <a:solidFill>
                  <a:srgbClr val="FBBF24"/>
                </a:solidFill>
                <a:latin typeface="Consolas"/>
              </a:rPr>
              <a:t>0.50</a:t>
            </a:r>
          </a:p>
          <a:p>
            <a:r>
              <a:rPr sz="1100">
                <a:solidFill>
                  <a:srgbClr val="E4E4E7"/>
                </a:solidFill>
              </a:rPr>
              <a:t>🟡 borderline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566160"/>
            <a:ext cx="3657600" cy="13716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/>
            <a:r>
              <a:rPr sz="1300">
                <a:solidFill>
                  <a:srgbClr val="71717A"/>
                </a:solidFill>
              </a:rPr>
              <a:t>entropy_loss</a:t>
            </a:r>
          </a:p>
          <a:p>
            <a:r>
              <a:rPr sz="2800" b="1">
                <a:solidFill>
                  <a:srgbClr val="FBBF24"/>
                </a:solidFill>
                <a:latin typeface="Consolas"/>
              </a:rPr>
              <a:t>-0.55</a:t>
            </a:r>
          </a:p>
          <a:p>
            <a:r>
              <a:rPr sz="1100">
                <a:solidFill>
                  <a:srgbClr val="E4E4E7"/>
                </a:solidFill>
              </a:rPr>
              <a:t>🟡 ลดเร็วไป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3566160"/>
            <a:ext cx="3657600" cy="13716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/>
            <a:r>
              <a:rPr sz="1300">
                <a:solidFill>
                  <a:srgbClr val="71717A"/>
                </a:solidFill>
              </a:rPr>
              <a:t>value_loss</a:t>
            </a:r>
          </a:p>
          <a:p>
            <a:r>
              <a:rPr sz="2800" b="1">
                <a:solidFill>
                  <a:srgbClr val="34D399"/>
                </a:solidFill>
                <a:latin typeface="Consolas"/>
              </a:rPr>
              <a:t>0.0004</a:t>
            </a:r>
          </a:p>
          <a:p>
            <a:r>
              <a:rPr sz="1100">
                <a:solidFill>
                  <a:srgbClr val="E4E4E7"/>
                </a:solidFill>
              </a:rPr>
              <a:t>🟢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3566160"/>
            <a:ext cx="3657600" cy="13716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/>
            <a:r>
              <a:rPr sz="1300">
                <a:solidFill>
                  <a:srgbClr val="71717A"/>
                </a:solidFill>
              </a:rPr>
              <a:t>n_updates</a:t>
            </a:r>
          </a:p>
          <a:p>
            <a:r>
              <a:rPr sz="2800" b="1">
                <a:solidFill>
                  <a:srgbClr val="60A5FA"/>
                </a:solidFill>
                <a:latin typeface="Consolas"/>
              </a:rPr>
              <a:t>170</a:t>
            </a:r>
          </a:p>
          <a:p>
            <a:r>
              <a:rPr sz="1100">
                <a:solidFill>
                  <a:srgbClr val="E4E4E7"/>
                </a:solidFill>
              </a:rPr>
              <a:t>📊 18% done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303520"/>
            <a:ext cx="11247120" cy="118872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82880"/>
          <a:lstStyle/>
          <a:p>
            <a:pPr algn="ctr"/>
            <a:r>
              <a:rPr sz="1800" b="1">
                <a:solidFill>
                  <a:srgbClr val="EF4444"/>
                </a:solidFill>
              </a:rPr>
              <a:t>🩺 Root Cause:</a:t>
            </a:r>
          </a:p>
          <a:p>
            <a:r>
              <a:rPr sz="1400">
                <a:solidFill>
                  <a:srgbClr val="E4E4E7"/>
                </a:solidFill>
              </a:rPr>
              <a:t>  Window=50 ใหญ่เกิน → state ใหญ่ → NN ปรับตัวยาก → policy กระโดด</a:t>
            </a:r>
          </a:p>
          <a:p>
            <a:r>
              <a:rPr sz="1400" b="1">
                <a:solidFill>
                  <a:srgbClr val="34D399"/>
                </a:solidFill>
              </a:rPr>
              <a:t>💊 Fix: เปลี่ยน window=10 (default) → restart training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BBF24"/>
                </a:solidFill>
              </a:rPr>
              <a:t>🩺 Diagnosis Flowchart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71717A"/>
                </a:solidFill>
              </a:rPr>
              <a:t>เจออาการแบบไหน → ดูที่ metric ไหน → แก้ยังไง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11247120" cy="457200"/>
          </a:xfrm>
          <a:prstGeom prst="roundRect">
            <a:avLst/>
          </a:prstGeom>
          <a:solidFill>
            <a:srgbClr val="27272A"/>
          </a:solidFill>
          <a:ln w="6350">
            <a:solidFill>
              <a:srgbClr val="717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</a:rPr>
              <a:t>อาการ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920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</a:rPr>
              <a:t>ดูที่ Metric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920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</a:rPr>
              <a:t>วิธีแก้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331720"/>
            <a:ext cx="11247120" cy="594360"/>
          </a:xfrm>
          <a:prstGeom prst="roundRect">
            <a:avLst/>
          </a:prstGeom>
          <a:solidFill>
            <a:srgbClr val="18181B"/>
          </a:solidFill>
          <a:ln w="6350">
            <a:solidFill>
              <a:srgbClr val="717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68879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4E4E7"/>
                </a:solidFill>
              </a:rPr>
              <a:t>Reward ไม่ขึ้น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46887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0A5FA"/>
                </a:solidFill>
                <a:latin typeface="Consolas"/>
              </a:rPr>
              <a:t>approx_kl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46887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4D399"/>
                </a:solidFill>
              </a:rPr>
              <a:t>ปรับ learning_rate (3e-4 → 1e-4)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971800"/>
            <a:ext cx="11247120" cy="594360"/>
          </a:xfrm>
          <a:prstGeom prst="roundRect">
            <a:avLst/>
          </a:prstGeom>
          <a:solidFill>
            <a:srgbClr val="27272A"/>
          </a:solidFill>
          <a:ln w="6350">
            <a:solidFill>
              <a:srgbClr val="717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089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4E4E7"/>
                </a:solidFill>
              </a:rPr>
              <a:t>Training crashed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108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0A5FA"/>
                </a:solidFill>
                <a:latin typeface="Consolas"/>
              </a:rPr>
              <a:t>approx_kl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3108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4D399"/>
                </a:solidFill>
              </a:rPr>
              <a:t>ลด lr / window / batch_size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611879"/>
            <a:ext cx="11247120" cy="594360"/>
          </a:xfrm>
          <a:prstGeom prst="roundRect">
            <a:avLst/>
          </a:prstGeom>
          <a:solidFill>
            <a:srgbClr val="18181B"/>
          </a:solidFill>
          <a:ln w="6350">
            <a:solidFill>
              <a:srgbClr val="717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749039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4E4E7"/>
                </a:solidFill>
              </a:rPr>
              <a:t>Trade ทุก bar / ไม่ปิด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7490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0A5FA"/>
                </a:solidFill>
                <a:latin typeface="Consolas"/>
              </a:rPr>
              <a:t>entropy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7490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4D399"/>
                </a:solidFill>
              </a:rPr>
              <a:t>Reward shaping (realized + max_hold)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251959"/>
            <a:ext cx="11247120" cy="594360"/>
          </a:xfrm>
          <a:prstGeom prst="roundRect">
            <a:avLst/>
          </a:prstGeom>
          <a:solidFill>
            <a:srgbClr val="27272A"/>
          </a:solidFill>
          <a:ln w="6350">
            <a:solidFill>
              <a:srgbClr val="717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3891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4E4E7"/>
                </a:solidFill>
              </a:rPr>
              <a:t>Policy collapse / เลือก action เดียว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389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0A5FA"/>
                </a:solidFill>
                <a:latin typeface="Consolas"/>
              </a:rPr>
              <a:t>entropy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4D399"/>
                </a:solidFill>
              </a:rPr>
              <a:t>เพิ่ม ent_coef (0.01 → 0.05)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892040"/>
            <a:ext cx="11247120" cy="594360"/>
          </a:xfrm>
          <a:prstGeom prst="roundRect">
            <a:avLst/>
          </a:prstGeom>
          <a:solidFill>
            <a:srgbClr val="18181B"/>
          </a:solidFill>
          <a:ln w="6350">
            <a:solidFill>
              <a:srgbClr val="717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0292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4E4E7"/>
                </a:solidFill>
              </a:rPr>
              <a:t>Backtest แย่กว่า train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5029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0A5FA"/>
                </a:solidFill>
                <a:latin typeface="Consolas"/>
              </a:rPr>
              <a:t>explained_var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4D399"/>
                </a:solidFill>
              </a:rPr>
              <a:t>Overfit → reduce features / window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532120"/>
            <a:ext cx="11247120" cy="594360"/>
          </a:xfrm>
          <a:prstGeom prst="roundRect">
            <a:avLst/>
          </a:prstGeom>
          <a:solidFill>
            <a:srgbClr val="27272A"/>
          </a:solidFill>
          <a:ln w="6350">
            <a:solidFill>
              <a:srgbClr val="717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6692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4E4E7"/>
                </a:solidFill>
              </a:rPr>
              <a:t>ค่าทุกตัวดูดี แต่ไม่ converge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5669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0A5FA"/>
                </a:solidFill>
                <a:latin typeface="Consolas"/>
              </a:rPr>
              <a:t>ep_rew_mean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5669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4D399"/>
                </a:solidFill>
              </a:rPr>
              <a:t>เปลี่ยน reward function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BBF24"/>
                </a:solidFill>
              </a:rPr>
              <a:t>⚡ Quick Reference Cheat Sheet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63040"/>
            <a:ext cx="11247120" cy="6858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/>
            <a:r>
              <a:rPr sz="1600" b="1">
                <a:solidFill>
                  <a:srgbClr val="34D399"/>
                </a:solidFill>
                <a:latin typeface="Consolas"/>
              </a:rPr>
              <a:t>ep_rew_mean    </a:t>
            </a:r>
            <a:r>
              <a:rPr sz="1400">
                <a:solidFill>
                  <a:srgbClr val="E4E4E7"/>
                </a:solidFill>
              </a:rPr>
              <a:t>🔼 ขึ้นเรื่อยๆ = ดี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40280"/>
            <a:ext cx="11247120" cy="6858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/>
            <a:r>
              <a:rPr sz="1600" b="1">
                <a:solidFill>
                  <a:srgbClr val="60A5FA"/>
                </a:solidFill>
                <a:latin typeface="Consolas"/>
              </a:rPr>
              <a:t>approx_kl    </a:t>
            </a:r>
            <a:r>
              <a:rPr sz="1400">
                <a:solidFill>
                  <a:srgbClr val="E4E4E7"/>
                </a:solidFill>
              </a:rPr>
              <a:t>0.005-0.05 = healthy   ·   &gt; 0.15 = แย่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017520"/>
            <a:ext cx="11247120" cy="6858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/>
            <a:r>
              <a:rPr sz="1600" b="1">
                <a:solidFill>
                  <a:srgbClr val="A78BFA"/>
                </a:solidFill>
                <a:latin typeface="Consolas"/>
              </a:rPr>
              <a:t>clip_fraction    </a:t>
            </a:r>
            <a:r>
              <a:rPr sz="1400">
                <a:solidFill>
                  <a:srgbClr val="E4E4E7"/>
                </a:solidFill>
              </a:rPr>
              <a:t>&lt; 0.2 = healthy   ·   &gt; 0.3 = แย่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794760"/>
            <a:ext cx="11247120" cy="6858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/>
            <a:r>
              <a:rPr sz="1600" b="1">
                <a:solidFill>
                  <a:srgbClr val="F472B6"/>
                </a:solidFill>
                <a:latin typeface="Consolas"/>
              </a:rPr>
              <a:t>explained_variance    </a:t>
            </a:r>
            <a:r>
              <a:rPr sz="1400">
                <a:solidFill>
                  <a:srgbClr val="E4E4E7"/>
                </a:solidFill>
              </a:rPr>
              <a:t>&gt; 0.5 = healthy   ·   &lt; 0.2 = แย่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6858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/>
            <a:r>
              <a:rPr sz="1600" b="1">
                <a:solidFill>
                  <a:srgbClr val="FB923C"/>
                </a:solidFill>
                <a:latin typeface="Consolas"/>
              </a:rPr>
              <a:t>entropy_loss    </a:t>
            </a:r>
            <a:r>
              <a:rPr sz="1400">
                <a:solidFill>
                  <a:srgbClr val="E4E4E7"/>
                </a:solidFill>
              </a:rPr>
              <a:t>เริ่ม -1.0 → จบ -0.3   (ลดลงเรื่อยๆ)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349240"/>
            <a:ext cx="11247120" cy="685800"/>
          </a:xfrm>
          <a:prstGeom prst="roundRect">
            <a:avLst/>
          </a:prstGeom>
          <a:solidFill>
            <a:srgbClr val="18181B"/>
          </a:solidFill>
          <a:ln w="317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/>
            <a:r>
              <a:rPr sz="1600" b="1">
                <a:solidFill>
                  <a:srgbClr val="FBBF24"/>
                </a:solidFill>
                <a:latin typeface="Consolas"/>
              </a:rPr>
              <a:t>value_loss    </a:t>
            </a:r>
            <a:r>
              <a:rPr sz="1400">
                <a:solidFill>
                  <a:srgbClr val="E4E4E7"/>
                </a:solidFill>
              </a:rPr>
              <a:t>&lt; 0.01 = healthy   ·   ลดลงเรื่อยๆ = ดี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BBF24"/>
                </a:solidFill>
              </a:rPr>
              <a:t>💡 ดู ep_rew_mean ก่อน — ถ้าขึ้น = OK · ถ้าไม่ → ค่อยดู metrics ตัวอื่น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0"/>
            <a:ext cx="12161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BBF24"/>
                </a:solidFill>
              </a:rPr>
              <a:t>🎓 รู้ Metrics = ประหยัดเวลา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017520"/>
            <a:ext cx="1216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E4E4E7"/>
                </a:solidFill>
              </a:rPr>
              <a:t>หยุดทันที ก่อนเสีย 30 นาที — Train ใหม่ดีกว่า ทน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840480"/>
            <a:ext cx="1216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71717A"/>
                </a:solidFill>
              </a:rPr>
              <a:t>Healthy metrics → Healthy model → Profitable trading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572000"/>
            <a:ext cx="12161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0"/>
              <a:t>🩺 📊 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943600"/>
            <a:ext cx="1216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Now: Stop your unhealthy run → Restart with window=10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