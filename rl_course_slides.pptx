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60A5FA"/>
                </a:solidFill>
              </a:rPr>
              <a:t>🤖 RL Trading 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E4E4E7"/>
                </a:solidFill>
              </a:rPr>
              <a:t>การพัฒนา Trading System ด้วย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71717A"/>
                </a:solidFill>
              </a:rPr>
              <a:t>From Data → Train → Deploy → Maintain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/>
              <a:t>🎯 📊 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1717A"/>
                </a:solidFill>
              </a:rPr>
              <a:t>Course Slides · เริ่มจากศูนย์จนใช้งานจริง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🗺️ Roadmap — 4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651760" cy="365760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tlCol="0" anchor="ctr"/>
          <a:lstStyle/>
          <a:p>
            <a:pPr algn="ctr"/>
            <a:r>
              <a:rPr sz="2400">
                <a:solidFill>
                  <a:srgbClr val="71717A"/>
                </a:solidFill>
              </a:rPr>
              <a:t>Phase 1</a:t>
            </a:r>
          </a:p>
          <a:p>
            <a:pPr algn="ctr"/>
            <a:r>
              <a:rPr sz="7200"/>
              <a:t>📥</a:t>
            </a:r>
          </a:p>
          <a:p>
            <a:pPr algn="ctr"/>
            <a:r>
              <a:rPr sz="3600" b="1">
                <a:solidFill>
                  <a:srgbClr val="60A5FA"/>
                </a:solidFill>
              </a:rPr>
              <a:t>COLLECT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เก็บข้อมูลจาก MT4</a:t>
            </a:r>
          </a:p>
          <a:p>
            <a:pPr algn="ctr"/>
            <a:r>
              <a:rPr>
                <a:solidFill>
                  <a:srgbClr val="71717A"/>
                </a:solidFill>
              </a:rPr>
              <a:t>1-2 สัปดาห์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651760" cy="365760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tlCol="0" anchor="ctr"/>
          <a:lstStyle/>
          <a:p>
            <a:pPr algn="ctr"/>
            <a:r>
              <a:rPr sz="2400">
                <a:solidFill>
                  <a:srgbClr val="71717A"/>
                </a:solidFill>
              </a:rPr>
              <a:t>Phase 2</a:t>
            </a:r>
          </a:p>
          <a:p>
            <a:pPr algn="ctr"/>
            <a:r>
              <a:rPr sz="7200"/>
              <a:t>🧠</a:t>
            </a:r>
          </a:p>
          <a:p>
            <a:pPr algn="ctr"/>
            <a:r>
              <a:rPr sz="3600" b="1">
                <a:solidFill>
                  <a:srgbClr val="34D399"/>
                </a:solidFill>
              </a:rPr>
              <a:t>TRAIN/TEST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เทรน RL + validate</a:t>
            </a:r>
          </a:p>
          <a:p>
            <a:pPr algn="ctr"/>
            <a:r>
              <a:rPr>
                <a:solidFill>
                  <a:srgbClr val="71717A"/>
                </a:solidFill>
              </a:rPr>
              <a:t>2-4 สัปดาห์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2651760" cy="365760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tlCol="0" anchor="ctr"/>
          <a:lstStyle/>
          <a:p>
            <a:pPr algn="ctr"/>
            <a:r>
              <a:rPr sz="2400">
                <a:solidFill>
                  <a:srgbClr val="71717A"/>
                </a:solidFill>
              </a:rPr>
              <a:t>Phase 3</a:t>
            </a:r>
          </a:p>
          <a:p>
            <a:pPr algn="ctr"/>
            <a:r>
              <a:rPr sz="7200"/>
              <a:t>🌐</a:t>
            </a:r>
          </a:p>
          <a:p>
            <a:pPr algn="ctr"/>
            <a:r>
              <a:rPr sz="3600" b="1">
                <a:solidFill>
                  <a:srgbClr val="A78BFA"/>
                </a:solidFill>
              </a:rPr>
              <a:t>DEPLOY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เชื่อม MT5 + เทรดจริง</a:t>
            </a:r>
          </a:p>
          <a:p>
            <a:pPr algn="ctr"/>
            <a:r>
              <a:rPr>
                <a:solidFill>
                  <a:srgbClr val="71717A"/>
                </a:solidFill>
              </a:rPr>
              <a:t>1-3 เดือน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828800"/>
            <a:ext cx="2651760" cy="365760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tlCol="0" anchor="ctr"/>
          <a:lstStyle/>
          <a:p>
            <a:pPr algn="ctr"/>
            <a:r>
              <a:rPr sz="2400">
                <a:solidFill>
                  <a:srgbClr val="71717A"/>
                </a:solidFill>
              </a:rPr>
              <a:t>Phase 4</a:t>
            </a:r>
          </a:p>
          <a:p>
            <a:pPr algn="ctr"/>
            <a:r>
              <a:rPr sz="7200"/>
              <a:t>🔄</a:t>
            </a:r>
          </a:p>
          <a:p>
            <a:pPr algn="ctr"/>
            <a:r>
              <a:rPr sz="3600" b="1">
                <a:solidFill>
                  <a:srgbClr val="FB923C"/>
                </a:solidFill>
              </a:rPr>
              <a:t>MAINTAIN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Fine-tune ทุก 3 เดือน</a:t>
            </a:r>
          </a:p>
          <a:p>
            <a:pPr algn="ctr"/>
            <a:r>
              <a:rPr>
                <a:solidFill>
                  <a:srgbClr val="71717A"/>
                </a:solidFill>
              </a:rPr>
              <a:t>ต่อเนื่อง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 err="1">
                <a:solidFill>
                  <a:srgbClr val="FBBF24"/>
                </a:solidFill>
              </a:rPr>
              <a:t>หลัก</a:t>
            </a:r>
            <a:r>
              <a:rPr sz="2400" b="0" dirty="0">
                <a:solidFill>
                  <a:srgbClr val="FBBF24"/>
                </a:solidFill>
              </a:rPr>
              <a:t>: ML Trading = Engineering </a:t>
            </a:r>
            <a:r>
              <a:rPr sz="2400" b="0" dirty="0" err="1">
                <a:solidFill>
                  <a:srgbClr val="FBBF24"/>
                </a:solidFill>
              </a:rPr>
              <a:t>ที่ต้องบำรุงรักษา</a:t>
            </a:r>
            <a:r>
              <a:rPr sz="2400" b="0" dirty="0">
                <a:solidFill>
                  <a:srgbClr val="FBBF24"/>
                </a:solidFill>
              </a:rPr>
              <a:t> </a:t>
            </a:r>
            <a:r>
              <a:rPr sz="2400" b="0" dirty="0" err="1">
                <a:solidFill>
                  <a:srgbClr val="FBBF24"/>
                </a:solidFill>
              </a:rPr>
              <a:t>ไม่ใช่</a:t>
            </a:r>
            <a:r>
              <a:rPr sz="2400" b="0" dirty="0">
                <a:solidFill>
                  <a:srgbClr val="FBBF24"/>
                </a:solidFill>
              </a:rPr>
              <a:t> "magic </a:t>
            </a:r>
            <a:r>
              <a:rPr sz="2400" b="0" dirty="0" err="1">
                <a:solidFill>
                  <a:srgbClr val="FBBF24"/>
                </a:solidFill>
              </a:rPr>
              <a:t>ทำครั้งเดียวจบ</a:t>
            </a:r>
            <a:r>
              <a:rPr sz="2400" b="0" dirty="0">
                <a:solidFill>
                  <a:srgbClr val="FBBF24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</a:rPr>
              <a:t>💡 Concepts ที่ต้องรู้ก่อน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71717A"/>
                </a:solidFill>
              </a:rPr>
              <a:t>คำศัพท์สำคัญที่จะเจอตลอดคอร์ส</a:t>
            </a:r>
            <a:r>
              <a:rPr sz="2400" b="0" dirty="0">
                <a:solidFill>
                  <a:srgbClr val="71717A"/>
                </a:solidFill>
              </a:rPr>
              <a:t> — </a:t>
            </a:r>
            <a:r>
              <a:rPr sz="2400" b="0" dirty="0" err="1">
                <a:solidFill>
                  <a:srgbClr val="71717A"/>
                </a:solidFill>
              </a:rPr>
              <a:t>รู้ไว้ก่อนช่วยให้เข้าใจง่ายขึ้น</a:t>
            </a:r>
            <a:endParaRPr sz="2400" b="0" dirty="0">
              <a:solidFill>
                <a:srgbClr val="71717A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FBBF24"/>
                </a:solidFill>
              </a:rPr>
              <a:t>🎯 ML (Machine Learning)</a:t>
            </a:r>
          </a:p>
          <a:p>
            <a:r>
              <a:rPr>
                <a:solidFill>
                  <a:srgbClr val="E4E4E7"/>
                </a:solidFill>
              </a:rPr>
              <a:t>คอมพิวเตอร์เรียนรู้จากข้อมูล — ดูประวัติ → ทาย UP/DOWN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737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FBBF24"/>
                </a:solidFill>
              </a:rPr>
              <a:t>🤖 RL (Reinforcement Learning)</a:t>
            </a:r>
          </a:p>
          <a:p>
            <a:r>
              <a:rPr>
                <a:solidFill>
                  <a:srgbClr val="E4E4E7"/>
                </a:solidFill>
              </a:rPr>
              <a:t>ML แบบลองทำ + ได้ reward → เรียนเก่งขึ้น (เหมือนสอนสุนัข)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737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FBBF24"/>
                </a:solidFill>
              </a:rPr>
              <a:t>🧠 Agent</a:t>
            </a:r>
          </a:p>
          <a:p>
            <a:r>
              <a:rPr>
                <a:solidFill>
                  <a:srgbClr val="E4E4E7"/>
                </a:solidFill>
              </a:rPr>
              <a:t>"สมอง" ที่ตัดสินใจ — ในนี้คือ Neural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FBBF24"/>
                </a:solidFill>
              </a:rPr>
              <a:t>🌍 Environment</a:t>
            </a:r>
          </a:p>
          <a:p>
            <a:r>
              <a:rPr>
                <a:solidFill>
                  <a:srgbClr val="E4E4E7"/>
                </a:solidFill>
              </a:rPr>
              <a:t>"โลก" ที่ Agent อยู่ — ในนี้คือตลาดจำลอง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FBBF24"/>
                </a:solidFill>
              </a:rPr>
              <a:t>🎁 Reward</a:t>
            </a:r>
          </a:p>
          <a:p>
            <a:r>
              <a:rPr>
                <a:solidFill>
                  <a:srgbClr val="E4E4E7"/>
                </a:solidFill>
              </a:rPr>
              <a:t>คะแนน บอกว่าทำดีหรือแย่ — ในนี้คือ P&amp;L ของ trade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023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FBBF24"/>
                </a:solidFill>
              </a:rPr>
              <a:t>📐 Features</a:t>
            </a:r>
          </a:p>
          <a:p>
            <a:r>
              <a:rPr>
                <a:solidFill>
                  <a:srgbClr val="E4E4E7"/>
                </a:solidFill>
              </a:rPr>
              <a:t>ตัวแปร input ของ model — RSI, EMA, ATR ฯลฯ (ยิ่งดี → model ฉลาดขึ้น)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60A5FA"/>
                </a:solidFill>
              </a:rPr>
              <a:t>📥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/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61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E4E4E7"/>
                </a:solidFill>
              </a:rPr>
              <a:t>"Garbage in, garbage out — </a:t>
            </a:r>
            <a:r>
              <a:rPr sz="3200" b="0" dirty="0" err="1">
                <a:solidFill>
                  <a:srgbClr val="E4E4E7"/>
                </a:solidFill>
              </a:rPr>
              <a:t>ข้อมูลคือทุกอย่าง</a:t>
            </a:r>
            <a:r>
              <a:rPr sz="3200" b="0" dirty="0">
                <a:solidFill>
                  <a:srgbClr val="E4E4E7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</a:rPr>
              <a:t>📥 35 Features ที่เก็บ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12801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60A5FA"/>
                </a:solidFill>
              </a:rPr>
              <a:t>📈 Base (5)</a:t>
            </a:r>
          </a:p>
          <a:p>
            <a:r>
              <a:rPr>
                <a:solidFill>
                  <a:srgbClr val="E4E4E7"/>
                </a:solidFill>
              </a:rPr>
              <a:t>RSI 14, EMA 20/50/200, ATR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657600" cy="12801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60A5FA"/>
                </a:solidFill>
              </a:rPr>
              <a:t>🌐 Multi-TF (5)</a:t>
            </a:r>
          </a:p>
          <a:p>
            <a:r>
              <a:rPr>
                <a:solidFill>
                  <a:srgbClr val="E4E4E7"/>
                </a:solidFill>
              </a:rPr>
              <a:t>RSI H4/D1, Trend H4/D1, Distance EMA200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657600" cy="12801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60A5FA"/>
                </a:solidFill>
              </a:rPr>
              <a:t>⚡ Momentum (7)</a:t>
            </a:r>
          </a:p>
          <a:p>
            <a:r>
              <a:rPr>
                <a:solidFill>
                  <a:srgbClr val="E4E4E7"/>
                </a:solidFill>
              </a:rPr>
              <a:t>MACD ×3, Stochastic K/D, CCI, Williams%R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3657600" cy="12801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60A5FA"/>
                </a:solidFill>
              </a:rPr>
              <a:t>🌪️ Volatility (3)</a:t>
            </a:r>
          </a:p>
          <a:p>
            <a:r>
              <a:rPr>
                <a:solidFill>
                  <a:srgbClr val="E4E4E7"/>
                </a:solidFill>
              </a:rPr>
              <a:t>BB position, ATR ratio, ADX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834640"/>
            <a:ext cx="3657600" cy="12801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60A5FA"/>
                </a:solidFill>
              </a:rPr>
              <a:t>⏰ Time (5)</a:t>
            </a:r>
          </a:p>
          <a:p>
            <a:r>
              <a:rPr>
                <a:solidFill>
                  <a:srgbClr val="E4E4E7"/>
                </a:solidFill>
              </a:rPr>
              <a:t>Hour, DOW, 3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834640"/>
            <a:ext cx="3657600" cy="12801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60A5FA"/>
                </a:solidFill>
              </a:rPr>
              <a:t>📊 Statistical (10)</a:t>
            </a:r>
          </a:p>
          <a:p>
            <a:r>
              <a:rPr>
                <a:solidFill>
                  <a:srgbClr val="E4E4E7"/>
                </a:solidFill>
              </a:rPr>
              <a:t>Lagged returns, z-score, Sharpe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BF24"/>
                </a:solidFill>
              </a:rPr>
              <a:t>= 35 Features × 100,000+ Bars (XAUUSD H1, 2010-2026)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</a:rPr>
              <a:t>🤔 ทำไมต้อง 35 features?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เปรียบเทียบ — ราคาดิบ vs features ที่ "แปลความหมาย" แล้ว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/>
            <a:r>
              <a:rPr sz="3200" b="1" dirty="0">
                <a:solidFill>
                  <a:srgbClr val="EF4444"/>
                </a:solidFill>
              </a:rPr>
              <a:t>❌ </a:t>
            </a:r>
            <a:r>
              <a:rPr sz="3200" b="1" dirty="0" err="1">
                <a:solidFill>
                  <a:srgbClr val="EF4444"/>
                </a:solidFill>
              </a:rPr>
              <a:t>ใช้แค่ราคา</a:t>
            </a:r>
            <a:r>
              <a:rPr sz="3200" b="1" dirty="0">
                <a:solidFill>
                  <a:srgbClr val="EF4444"/>
                </a:solidFill>
              </a:rPr>
              <a:t> (close)</a:t>
            </a:r>
          </a:p>
          <a:p>
            <a:endParaRPr sz="3200" b="1" dirty="0">
              <a:solidFill>
                <a:srgbClr val="EF4444"/>
              </a:solidFill>
            </a:endParaRPr>
          </a:p>
          <a:p>
            <a:r>
              <a:rPr sz="2000" dirty="0">
                <a:solidFill>
                  <a:srgbClr val="E4E4E7"/>
                </a:solidFill>
              </a:rPr>
              <a:t>2050.20</a:t>
            </a:r>
          </a:p>
          <a:p>
            <a:r>
              <a:rPr sz="2000" dirty="0">
                <a:solidFill>
                  <a:srgbClr val="E4E4E7"/>
                </a:solidFill>
              </a:rPr>
              <a:t>2051.05</a:t>
            </a:r>
          </a:p>
          <a:p>
            <a:r>
              <a:rPr sz="2000" dirty="0">
                <a:solidFill>
                  <a:srgbClr val="E4E4E7"/>
                </a:solidFill>
              </a:rPr>
              <a:t>2050.85</a:t>
            </a:r>
          </a:p>
          <a:p>
            <a:r>
              <a:rPr sz="2000" dirty="0">
                <a:solidFill>
                  <a:srgbClr val="E4E4E7"/>
                </a:solidFill>
              </a:rPr>
              <a:t>2051.40</a:t>
            </a:r>
          </a:p>
          <a:p>
            <a:r>
              <a:rPr sz="2000" dirty="0">
                <a:solidFill>
                  <a:srgbClr val="E4E4E7"/>
                </a:solidFill>
              </a:rPr>
              <a:t>...</a:t>
            </a:r>
          </a:p>
          <a:p>
            <a:endParaRPr sz="2000" dirty="0">
              <a:solidFill>
                <a:srgbClr val="E4E4E7"/>
              </a:solidFill>
            </a:endParaRPr>
          </a:p>
          <a:p>
            <a:r>
              <a:rPr sz="2000" dirty="0">
                <a:solidFill>
                  <a:srgbClr val="E4E4E7"/>
                </a:solidFill>
              </a:rPr>
              <a:t>Model </a:t>
            </a:r>
            <a:r>
              <a:rPr sz="2000" dirty="0" err="1">
                <a:solidFill>
                  <a:srgbClr val="E4E4E7"/>
                </a:solidFill>
              </a:rPr>
              <a:t>ต้องคิดเองว่า</a:t>
            </a:r>
            <a:r>
              <a:rPr sz="2000" dirty="0">
                <a:solidFill>
                  <a:srgbClr val="E4E4E7"/>
                </a:solidFill>
              </a:rPr>
              <a:t> trend </a:t>
            </a:r>
            <a:r>
              <a:rPr sz="2000" dirty="0" err="1">
                <a:solidFill>
                  <a:srgbClr val="E4E4E7"/>
                </a:solidFill>
              </a:rPr>
              <a:t>ไปไหน</a:t>
            </a:r>
            <a:endParaRPr sz="2000" dirty="0">
              <a:solidFill>
                <a:srgbClr val="E4E4E7"/>
              </a:solidFill>
            </a:endParaRPr>
          </a:p>
          <a:p>
            <a:r>
              <a:rPr sz="2000" dirty="0">
                <a:solidFill>
                  <a:srgbClr val="EF4444"/>
                </a:solidFill>
              </a:rPr>
              <a:t>→ </a:t>
            </a:r>
            <a:r>
              <a:rPr sz="2000" dirty="0" err="1">
                <a:solidFill>
                  <a:srgbClr val="EF4444"/>
                </a:solidFill>
              </a:rPr>
              <a:t>เรียนยาก</a:t>
            </a:r>
            <a:r>
              <a:rPr sz="2000" dirty="0">
                <a:solidFill>
                  <a:srgbClr val="EF4444"/>
                </a:solidFill>
              </a:rPr>
              <a:t> </a:t>
            </a:r>
            <a:r>
              <a:rPr sz="2000" dirty="0" err="1">
                <a:solidFill>
                  <a:srgbClr val="EF4444"/>
                </a:solidFill>
              </a:rPr>
              <a:t>ต้องใช้</a:t>
            </a:r>
            <a:r>
              <a:rPr sz="2000" dirty="0">
                <a:solidFill>
                  <a:srgbClr val="EF4444"/>
                </a:solidFill>
              </a:rPr>
              <a:t> data </a:t>
            </a:r>
            <a:r>
              <a:rPr sz="2000" dirty="0" err="1">
                <a:solidFill>
                  <a:srgbClr val="EF4444"/>
                </a:solidFill>
              </a:rPr>
              <a:t>เยอะมาก</a:t>
            </a:r>
            <a:endParaRPr sz="2000" dirty="0">
              <a:solidFill>
                <a:srgbClr val="EF444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/>
            <a:r>
              <a:rPr sz="3200" b="1" dirty="0">
                <a:solidFill>
                  <a:srgbClr val="34D399"/>
                </a:solidFill>
              </a:rPr>
              <a:t>✅ </a:t>
            </a:r>
            <a:r>
              <a:rPr sz="3200" b="1" dirty="0" err="1">
                <a:solidFill>
                  <a:srgbClr val="34D399"/>
                </a:solidFill>
              </a:rPr>
              <a:t>ใช้</a:t>
            </a:r>
            <a:r>
              <a:rPr sz="3200" b="1" dirty="0">
                <a:solidFill>
                  <a:srgbClr val="34D399"/>
                </a:solidFill>
              </a:rPr>
              <a:t> Features (35 </a:t>
            </a:r>
            <a:r>
              <a:rPr sz="3200" b="1" dirty="0" err="1">
                <a:solidFill>
                  <a:srgbClr val="34D399"/>
                </a:solidFill>
              </a:rPr>
              <a:t>ตัว</a:t>
            </a:r>
            <a:r>
              <a:rPr sz="3200" b="1" dirty="0">
                <a:solidFill>
                  <a:srgbClr val="34D399"/>
                </a:solidFill>
              </a:rPr>
              <a:t>)</a:t>
            </a:r>
          </a:p>
          <a:p>
            <a:endParaRPr sz="3200" b="1" dirty="0">
              <a:solidFill>
                <a:srgbClr val="34D399"/>
              </a:solidFill>
            </a:endParaRPr>
          </a:p>
          <a:p>
            <a:r>
              <a:rPr sz="2000" dirty="0">
                <a:solidFill>
                  <a:srgbClr val="E4E4E7"/>
                </a:solidFill>
              </a:rPr>
              <a:t>RSI = 32 (oversold)</a:t>
            </a:r>
          </a:p>
          <a:p>
            <a:r>
              <a:rPr sz="2000" dirty="0" err="1">
                <a:solidFill>
                  <a:srgbClr val="E4E4E7"/>
                </a:solidFill>
              </a:rPr>
              <a:t>EMA_fast</a:t>
            </a:r>
            <a:r>
              <a:rPr sz="2000" dirty="0">
                <a:solidFill>
                  <a:srgbClr val="E4E4E7"/>
                </a:solidFill>
              </a:rPr>
              <a:t> &gt; </a:t>
            </a:r>
            <a:r>
              <a:rPr sz="2000" dirty="0" err="1">
                <a:solidFill>
                  <a:srgbClr val="E4E4E7"/>
                </a:solidFill>
              </a:rPr>
              <a:t>EMA_slow</a:t>
            </a:r>
            <a:r>
              <a:rPr sz="2000" dirty="0">
                <a:solidFill>
                  <a:srgbClr val="E4E4E7"/>
                </a:solidFill>
              </a:rPr>
              <a:t> (uptrend)</a:t>
            </a:r>
          </a:p>
          <a:p>
            <a:r>
              <a:rPr sz="2000" dirty="0">
                <a:solidFill>
                  <a:srgbClr val="E4E4E7"/>
                </a:solidFill>
              </a:rPr>
              <a:t>ATR rising (volatility ↑)</a:t>
            </a:r>
          </a:p>
          <a:p>
            <a:r>
              <a:rPr sz="2000" dirty="0" err="1">
                <a:solidFill>
                  <a:srgbClr val="E4E4E7"/>
                </a:solidFill>
              </a:rPr>
              <a:t>BB_position</a:t>
            </a:r>
            <a:r>
              <a:rPr sz="2000" dirty="0">
                <a:solidFill>
                  <a:srgbClr val="E4E4E7"/>
                </a:solidFill>
              </a:rPr>
              <a:t> = 0.15 (near bottom)</a:t>
            </a:r>
          </a:p>
          <a:p>
            <a:r>
              <a:rPr sz="2000" dirty="0">
                <a:solidFill>
                  <a:srgbClr val="E4E4E7"/>
                </a:solidFill>
              </a:rPr>
              <a:t>...</a:t>
            </a:r>
          </a:p>
          <a:p>
            <a:endParaRPr sz="2000" dirty="0">
              <a:solidFill>
                <a:srgbClr val="E4E4E7"/>
              </a:solidFill>
            </a:endParaRPr>
          </a:p>
          <a:p>
            <a:r>
              <a:rPr sz="2000" dirty="0">
                <a:solidFill>
                  <a:srgbClr val="E4E4E7"/>
                </a:solidFill>
              </a:rPr>
              <a:t>Indicators </a:t>
            </a:r>
            <a:r>
              <a:rPr sz="2000" dirty="0" err="1">
                <a:solidFill>
                  <a:srgbClr val="E4E4E7"/>
                </a:solidFill>
              </a:rPr>
              <a:t>แปลความหมายแล้ว</a:t>
            </a:r>
            <a:endParaRPr sz="2000" dirty="0">
              <a:solidFill>
                <a:srgbClr val="E4E4E7"/>
              </a:solidFill>
            </a:endParaRPr>
          </a:p>
          <a:p>
            <a:r>
              <a:rPr sz="2000" dirty="0">
                <a:solidFill>
                  <a:srgbClr val="34D399"/>
                </a:solidFill>
              </a:rPr>
              <a:t>→ Model </a:t>
            </a:r>
            <a:r>
              <a:rPr sz="2000" dirty="0" err="1">
                <a:solidFill>
                  <a:srgbClr val="34D399"/>
                </a:solidFill>
              </a:rPr>
              <a:t>จับ</a:t>
            </a:r>
            <a:r>
              <a:rPr sz="2000" dirty="0">
                <a:solidFill>
                  <a:srgbClr val="34D399"/>
                </a:solidFill>
              </a:rPr>
              <a:t> pattern </a:t>
            </a:r>
            <a:r>
              <a:rPr sz="2000" dirty="0" err="1">
                <a:solidFill>
                  <a:srgbClr val="34D399"/>
                </a:solidFill>
              </a:rPr>
              <a:t>ได้ง่าย</a:t>
            </a:r>
            <a:endParaRPr sz="2000" dirty="0">
              <a:solidFill>
                <a:srgbClr val="34D39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BBF24"/>
                </a:solidFill>
              </a:rPr>
              <a:t>หลัก: "Better features beat better algorithms" — Pedro Domingos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34D399"/>
                </a:solidFill>
              </a:rPr>
              <a:t>🧠 TRAIN +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/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61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dirty="0">
                <a:solidFill>
                  <a:srgbClr val="E4E4E7"/>
                </a:solidFill>
              </a:rPr>
              <a:t>"</a:t>
            </a:r>
            <a:r>
              <a:rPr sz="4000" b="0" dirty="0" err="1">
                <a:solidFill>
                  <a:srgbClr val="E4E4E7"/>
                </a:solidFill>
              </a:rPr>
              <a:t>เทรน</a:t>
            </a:r>
            <a:r>
              <a:rPr sz="4000" b="0" dirty="0">
                <a:solidFill>
                  <a:srgbClr val="E4E4E7"/>
                </a:solidFill>
              </a:rPr>
              <a:t> RL Agent → Validate </a:t>
            </a:r>
            <a:r>
              <a:rPr sz="4000" b="0" dirty="0" err="1">
                <a:solidFill>
                  <a:srgbClr val="E4E4E7"/>
                </a:solidFill>
              </a:rPr>
              <a:t>ก่อน</a:t>
            </a:r>
            <a:r>
              <a:rPr sz="4000" b="0" dirty="0">
                <a:solidFill>
                  <a:srgbClr val="E4E4E7"/>
                </a:solidFill>
              </a:rPr>
              <a:t> Deploy"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</a:rPr>
              <a:t>🔄 Pipeline ของ Phase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/>
              <a:t>📥</a:t>
            </a:r>
          </a:p>
          <a:p>
            <a:pPr algn="ctr"/>
            <a:r>
              <a:rPr sz="1300" b="1">
                <a:solidFill>
                  <a:srgbClr val="34D399"/>
                </a:solidFill>
              </a:rPr>
              <a:t>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201168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/>
              <a:t>⚖️</a:t>
            </a:r>
          </a:p>
          <a:p>
            <a:pPr algn="ctr"/>
            <a:r>
              <a:rPr sz="1300" b="1">
                <a:solidFill>
                  <a:srgbClr val="34D399"/>
                </a:solidFill>
              </a:rPr>
              <a:t>Relabel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201168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/>
              <a:t>🧠</a:t>
            </a:r>
          </a:p>
          <a:p>
            <a:pPr algn="ctr"/>
            <a:r>
              <a:rPr sz="1300" b="1">
                <a:solidFill>
                  <a:srgbClr val="34D399"/>
                </a:solidFill>
              </a:rPr>
              <a:t>Train PPO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201168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/>
              <a:t>📊</a:t>
            </a:r>
          </a:p>
          <a:p>
            <a:pPr algn="ctr"/>
            <a:r>
              <a:rPr sz="1300" b="1">
                <a:solidFill>
                  <a:srgbClr val="34D399"/>
                </a:solidFill>
              </a:rPr>
              <a:t>Backtest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201168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/>
              <a:t>🔬</a:t>
            </a:r>
          </a:p>
          <a:p>
            <a:pPr algn="ctr"/>
            <a:r>
              <a:rPr sz="1300" b="1">
                <a:solidFill>
                  <a:srgbClr val="34D399"/>
                </a:solidFill>
              </a:rPr>
              <a:t>Walk-Forward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solidFill>
            <a:srgbClr val="09090B"/>
          </a:solidFill>
          <a:ln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000" dirty="0">
                <a:solidFill>
                  <a:srgbClr val="34D399"/>
                </a:solidFill>
                <a:latin typeface="Consolas"/>
              </a:rPr>
              <a:t>python relabel.py training_data_v2.csv
python rl_train.py training_data_v2_relabeled.csv --steps 200000
python rl_backtest.py rl_v3 training_data_v2_relabeled.csv
python rl_walkforward.py training_data_v2_relabeled.csv --windows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</a:rPr>
              <a:t>🤖 PPO คืออะไร? (อธิบายง่ายๆ)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PPO = Proximal Policy Optimization — Algorithm สอน Neural Network ให้ตัดสินใจดีขึ้น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3600" b="1" dirty="0">
                <a:solidFill>
                  <a:srgbClr val="34D399"/>
                </a:solidFill>
              </a:rPr>
              <a:t>🎯 </a:t>
            </a:r>
            <a:r>
              <a:rPr sz="3600" b="1" dirty="0" err="1">
                <a:solidFill>
                  <a:srgbClr val="34D399"/>
                </a:solidFill>
              </a:rPr>
              <a:t>ทำงานยังไง</a:t>
            </a:r>
            <a:endParaRPr sz="3600" b="1" dirty="0">
              <a:solidFill>
                <a:srgbClr val="34D399"/>
              </a:solidFill>
            </a:endParaRPr>
          </a:p>
          <a:p>
            <a:r>
              <a:rPr sz="2400" dirty="0">
                <a:solidFill>
                  <a:srgbClr val="E4E4E7"/>
                </a:solidFill>
              </a:rPr>
              <a:t>1. Agent </a:t>
            </a:r>
            <a:r>
              <a:rPr sz="2400" dirty="0" err="1">
                <a:solidFill>
                  <a:srgbClr val="E4E4E7"/>
                </a:solidFill>
              </a:rPr>
              <a:t>ดู</a:t>
            </a:r>
            <a:r>
              <a:rPr sz="2400" dirty="0">
                <a:solidFill>
                  <a:srgbClr val="E4E4E7"/>
                </a:solidFill>
              </a:rPr>
              <a:t> state → </a:t>
            </a:r>
            <a:r>
              <a:rPr sz="2400" dirty="0" err="1">
                <a:solidFill>
                  <a:srgbClr val="E4E4E7"/>
                </a:solidFill>
              </a:rPr>
              <a:t>ตัดสินใจ</a:t>
            </a:r>
            <a:r>
              <a:rPr sz="2400" dirty="0">
                <a:solidFill>
                  <a:srgbClr val="E4E4E7"/>
                </a:solidFill>
              </a:rPr>
              <a:t>
   (Buy/Sell/Hold)
2. </a:t>
            </a:r>
            <a:r>
              <a:rPr sz="2400" dirty="0" err="1">
                <a:solidFill>
                  <a:srgbClr val="E4E4E7"/>
                </a:solidFill>
              </a:rPr>
              <a:t>ลงมือทำ</a:t>
            </a:r>
            <a:r>
              <a:rPr sz="2400" dirty="0">
                <a:solidFill>
                  <a:srgbClr val="E4E4E7"/>
                </a:solidFill>
              </a:rPr>
              <a:t> → </a:t>
            </a:r>
            <a:r>
              <a:rPr sz="2400" dirty="0" err="1">
                <a:solidFill>
                  <a:srgbClr val="E4E4E7"/>
                </a:solidFill>
              </a:rPr>
              <a:t>เห็น</a:t>
            </a:r>
            <a:r>
              <a:rPr sz="2400" dirty="0">
                <a:solidFill>
                  <a:srgbClr val="E4E4E7"/>
                </a:solidFill>
              </a:rPr>
              <a:t> reward (+/-)
3. </a:t>
            </a:r>
            <a:r>
              <a:rPr sz="2400" dirty="0" err="1">
                <a:solidFill>
                  <a:srgbClr val="E4E4E7"/>
                </a:solidFill>
              </a:rPr>
              <a:t>ปรับ</a:t>
            </a:r>
            <a:r>
              <a:rPr sz="2400" dirty="0">
                <a:solidFill>
                  <a:srgbClr val="E4E4E7"/>
                </a:solidFill>
              </a:rPr>
              <a:t> NN: action </a:t>
            </a:r>
            <a:r>
              <a:rPr sz="2400" dirty="0" err="1">
                <a:solidFill>
                  <a:srgbClr val="E4E4E7"/>
                </a:solidFill>
              </a:rPr>
              <a:t>ดี</a:t>
            </a:r>
            <a:r>
              <a:rPr sz="2400" dirty="0">
                <a:solidFill>
                  <a:srgbClr val="E4E4E7"/>
                </a:solidFill>
              </a:rPr>
              <a:t> → </a:t>
            </a:r>
            <a:r>
              <a:rPr sz="2400" dirty="0" err="1">
                <a:solidFill>
                  <a:srgbClr val="E4E4E7"/>
                </a:solidFill>
              </a:rPr>
              <a:t>เพิ่ม</a:t>
            </a:r>
            <a:r>
              <a:rPr sz="2400" dirty="0">
                <a:solidFill>
                  <a:srgbClr val="E4E4E7"/>
                </a:solidFill>
              </a:rPr>
              <a:t> prob,
   action </a:t>
            </a:r>
            <a:r>
              <a:rPr sz="2400" dirty="0" err="1">
                <a:solidFill>
                  <a:srgbClr val="E4E4E7"/>
                </a:solidFill>
              </a:rPr>
              <a:t>แย่</a:t>
            </a:r>
            <a:r>
              <a:rPr sz="2400" dirty="0">
                <a:solidFill>
                  <a:srgbClr val="E4E4E7"/>
                </a:solidFill>
              </a:rPr>
              <a:t> → </a:t>
            </a:r>
            <a:r>
              <a:rPr sz="2400" dirty="0" err="1">
                <a:solidFill>
                  <a:srgbClr val="E4E4E7"/>
                </a:solidFill>
              </a:rPr>
              <a:t>ลด</a:t>
            </a:r>
            <a:r>
              <a:rPr sz="2400" dirty="0">
                <a:solidFill>
                  <a:srgbClr val="E4E4E7"/>
                </a:solidFill>
              </a:rPr>
              <a:t> prob
4. </a:t>
            </a:r>
            <a:r>
              <a:rPr sz="2400" dirty="0" err="1">
                <a:solidFill>
                  <a:srgbClr val="E4E4E7"/>
                </a:solidFill>
              </a:rPr>
              <a:t>ทำซ้ำ</a:t>
            </a:r>
            <a:r>
              <a:rPr sz="2400" dirty="0">
                <a:solidFill>
                  <a:srgbClr val="E4E4E7"/>
                </a:solidFill>
              </a:rPr>
              <a:t> 200,000 </a:t>
            </a:r>
            <a:r>
              <a:rPr sz="2400" dirty="0" err="1">
                <a:solidFill>
                  <a:srgbClr val="E4E4E7"/>
                </a:solidFill>
              </a:rPr>
              <a:t>ครั้ง</a:t>
            </a:r>
            <a:r>
              <a:rPr sz="2400" dirty="0">
                <a:solidFill>
                  <a:srgbClr val="E4E4E7"/>
                </a:solidFill>
              </a:rPr>
              <a:t> → </a:t>
            </a:r>
            <a:r>
              <a:rPr sz="2400" dirty="0" err="1">
                <a:solidFill>
                  <a:srgbClr val="E4E4E7"/>
                </a:solidFill>
              </a:rPr>
              <a:t>เก่งขึ้น</a:t>
            </a:r>
            <a:endParaRPr sz="2400" dirty="0">
              <a:solidFill>
                <a:srgbClr val="E4E4E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3600" b="1" dirty="0">
                <a:solidFill>
                  <a:srgbClr val="34D399"/>
                </a:solidFill>
              </a:rPr>
              <a:t>💡 "Proximal" = </a:t>
            </a:r>
            <a:r>
              <a:rPr sz="3600" b="1" dirty="0" err="1">
                <a:solidFill>
                  <a:srgbClr val="34D399"/>
                </a:solidFill>
              </a:rPr>
              <a:t>ใกล้ๆ</a:t>
            </a:r>
            <a:endParaRPr sz="3600" b="1" dirty="0">
              <a:solidFill>
                <a:srgbClr val="34D399"/>
              </a:solidFill>
            </a:endParaRPr>
          </a:p>
          <a:p>
            <a:r>
              <a:rPr sz="2400" dirty="0" err="1">
                <a:solidFill>
                  <a:srgbClr val="E4E4E7"/>
                </a:solidFill>
              </a:rPr>
              <a:t>ห้าม</a:t>
            </a:r>
            <a:r>
              <a:rPr sz="2400" dirty="0">
                <a:solidFill>
                  <a:srgbClr val="E4E4E7"/>
                </a:solidFill>
              </a:rPr>
              <a:t> policy </a:t>
            </a:r>
            <a:r>
              <a:rPr sz="2400" dirty="0" err="1">
                <a:solidFill>
                  <a:srgbClr val="E4E4E7"/>
                </a:solidFill>
              </a:rPr>
              <a:t>เปลี่ยนเร็วเกิน</a:t>
            </a:r>
            <a:r>
              <a:rPr sz="2400" dirty="0">
                <a:solidFill>
                  <a:srgbClr val="E4E4E7"/>
                </a:solidFill>
              </a:rPr>
              <a:t> ±20%
</a:t>
            </a:r>
            <a:r>
              <a:rPr sz="2400" dirty="0" err="1">
                <a:solidFill>
                  <a:srgbClr val="E4E4E7"/>
                </a:solidFill>
              </a:rPr>
              <a:t>ต่อ</a:t>
            </a:r>
            <a:r>
              <a:rPr sz="2400" dirty="0">
                <a:solidFill>
                  <a:srgbClr val="E4E4E7"/>
                </a:solidFill>
              </a:rPr>
              <a:t> update
❌ </a:t>
            </a:r>
            <a:r>
              <a:rPr sz="2400" dirty="0" err="1">
                <a:solidFill>
                  <a:srgbClr val="E4E4E7"/>
                </a:solidFill>
              </a:rPr>
              <a:t>ก่อน</a:t>
            </a:r>
            <a:r>
              <a:rPr sz="2400" dirty="0">
                <a:solidFill>
                  <a:srgbClr val="E4E4E7"/>
                </a:solidFill>
              </a:rPr>
              <a:t> PPO: Update </a:t>
            </a:r>
            <a:r>
              <a:rPr sz="2400" dirty="0" err="1">
                <a:solidFill>
                  <a:srgbClr val="E4E4E7"/>
                </a:solidFill>
              </a:rPr>
              <a:t>เร็ว</a:t>
            </a:r>
            <a:r>
              <a:rPr sz="2400" dirty="0">
                <a:solidFill>
                  <a:srgbClr val="E4E4E7"/>
                </a:solidFill>
              </a:rPr>
              <a:t> → </a:t>
            </a:r>
            <a:r>
              <a:rPr sz="2400" dirty="0" err="1">
                <a:solidFill>
                  <a:srgbClr val="E4E4E7"/>
                </a:solidFill>
              </a:rPr>
              <a:t>ลืมของเก่า</a:t>
            </a:r>
            <a:r>
              <a:rPr sz="2400" dirty="0">
                <a:solidFill>
                  <a:srgbClr val="E4E4E7"/>
                </a:solidFill>
              </a:rPr>
              <a:t>
✅ PPO: Clip 0.2 → </a:t>
            </a:r>
            <a:r>
              <a:rPr sz="2400" dirty="0" err="1">
                <a:solidFill>
                  <a:srgbClr val="E4E4E7"/>
                </a:solidFill>
              </a:rPr>
              <a:t>ค่อยๆ</a:t>
            </a:r>
            <a:r>
              <a:rPr sz="2400" dirty="0">
                <a:solidFill>
                  <a:srgbClr val="E4E4E7"/>
                </a:solidFill>
              </a:rPr>
              <a:t> </a:t>
            </a:r>
            <a:r>
              <a:rPr sz="2400" dirty="0" err="1">
                <a:solidFill>
                  <a:srgbClr val="E4E4E7"/>
                </a:solidFill>
              </a:rPr>
              <a:t>ปรับ</a:t>
            </a:r>
            <a:r>
              <a:rPr sz="2400" dirty="0">
                <a:solidFill>
                  <a:srgbClr val="E4E4E7"/>
                </a:solidFill>
              </a:rPr>
              <a:t> stable
= </a:t>
            </a:r>
            <a:r>
              <a:rPr sz="2400" dirty="0" err="1">
                <a:solidFill>
                  <a:srgbClr val="E4E4E7"/>
                </a:solidFill>
              </a:rPr>
              <a:t>เปรียบเหมือนสอนสุนัข</a:t>
            </a:r>
            <a:r>
              <a:rPr sz="2400" dirty="0">
                <a:solidFill>
                  <a:srgbClr val="E4E4E7"/>
                </a:solidFill>
              </a:rPr>
              <a:t>
</a:t>
            </a:r>
            <a:r>
              <a:rPr sz="2400" dirty="0" err="1">
                <a:solidFill>
                  <a:srgbClr val="E4E4E7"/>
                </a:solidFill>
              </a:rPr>
              <a:t>ค่อยๆ</a:t>
            </a:r>
            <a:r>
              <a:rPr sz="2400" dirty="0">
                <a:solidFill>
                  <a:srgbClr val="E4E4E7"/>
                </a:solidFill>
              </a:rPr>
              <a:t> </a:t>
            </a:r>
            <a:r>
              <a:rPr sz="2400" dirty="0" err="1">
                <a:solidFill>
                  <a:srgbClr val="E4E4E7"/>
                </a:solidFill>
              </a:rPr>
              <a:t>ฝึก</a:t>
            </a:r>
            <a:r>
              <a:rPr sz="2400" dirty="0">
                <a:solidFill>
                  <a:srgbClr val="E4E4E7"/>
                </a:solidFill>
              </a:rPr>
              <a:t> </a:t>
            </a:r>
            <a:r>
              <a:rPr sz="2400" dirty="0" err="1">
                <a:solidFill>
                  <a:srgbClr val="E4E4E7"/>
                </a:solidFill>
              </a:rPr>
              <a:t>ไม่เปลี่ยนวิธีทุกวัน</a:t>
            </a:r>
            <a:endParaRPr sz="2400" dirty="0">
              <a:solidFill>
                <a:srgbClr val="E4E4E7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BBF24"/>
                </a:solidFill>
              </a:rPr>
              <a:t>PPO = Standard ของ RL Trading ใน 2024+ (default ของ stable-baselines3)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</a:rPr>
              <a:t>🔬 Walk-Forward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133" y="1463040"/>
            <a:ext cx="155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Window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2018-2020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6304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1.07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+6.7%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463040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133" y="2057400"/>
            <a:ext cx="155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Window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5740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2020-2021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1.28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57400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+47.4%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57400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133" y="2651760"/>
            <a:ext cx="155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Window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5176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2021-2022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1.10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+12.3%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651760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133" y="3246120"/>
            <a:ext cx="155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Window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24612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2022-2024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0.97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46120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-5.4%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246120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133" y="3840480"/>
            <a:ext cx="155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Window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84048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2024-2026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4048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0.86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840480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-18.6%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840480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FBBF24"/>
                </a:solidFill>
              </a:rPr>
              <a:t>Verdict: 3/5 </a:t>
            </a:r>
            <a:r>
              <a:rPr sz="3200" b="1" dirty="0" err="1">
                <a:solidFill>
                  <a:srgbClr val="FBBF24"/>
                </a:solidFill>
              </a:rPr>
              <a:t>ผ่าน</a:t>
            </a:r>
            <a:r>
              <a:rPr sz="3200" b="1" dirty="0">
                <a:solidFill>
                  <a:srgbClr val="FBBF24"/>
                </a:solidFill>
              </a:rPr>
              <a:t> → Edge </a:t>
            </a:r>
            <a:r>
              <a:rPr sz="3200" b="1" dirty="0" err="1">
                <a:solidFill>
                  <a:srgbClr val="FBBF24"/>
                </a:solidFill>
              </a:rPr>
              <a:t>เคยมี</a:t>
            </a:r>
            <a:r>
              <a:rPr sz="3200" b="1" dirty="0">
                <a:solidFill>
                  <a:srgbClr val="FBBF24"/>
                </a:solidFill>
              </a:rPr>
              <a:t> </a:t>
            </a:r>
            <a:r>
              <a:rPr sz="3200" b="1" dirty="0" err="1">
                <a:solidFill>
                  <a:srgbClr val="FBBF24"/>
                </a:solidFill>
              </a:rPr>
              <a:t>แต่กำลัง</a:t>
            </a:r>
            <a:r>
              <a:rPr sz="3200" b="1" dirty="0">
                <a:solidFill>
                  <a:srgbClr val="FBBF24"/>
                </a:solidFill>
              </a:rPr>
              <a:t> drift → </a:t>
            </a:r>
            <a:r>
              <a:rPr sz="3200" b="1" dirty="0" err="1">
                <a:solidFill>
                  <a:srgbClr val="FBBF24"/>
                </a:solidFill>
              </a:rPr>
              <a:t>ต้อง</a:t>
            </a:r>
            <a:r>
              <a:rPr sz="3200" b="1" dirty="0">
                <a:solidFill>
                  <a:srgbClr val="FBBF24"/>
                </a:solidFill>
              </a:rPr>
              <a:t> Fine-tune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A78BFA"/>
                </a:solidFill>
              </a:rPr>
              <a:t>🌐 MT5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/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61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E4E4E7"/>
                </a:solidFill>
              </a:rPr>
              <a:t>"Demo → Small Live → Scale Up"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78BFA"/>
                </a:solidFill>
              </a:rPr>
              <a:t>🏗️ Python ↔ MT5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3657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3600" b="1">
                <a:solidFill>
                  <a:srgbClr val="A78BFA"/>
                </a:solidFill>
              </a:rPr>
              <a:t>🐍 Python (Brain)</a:t>
            </a:r>
          </a:p>
          <a:p>
            <a:r>
              <a:rPr sz="2400">
                <a:solidFill>
                  <a:srgbClr val="E4E4E7"/>
                </a:solidFill>
              </a:rPr>
              <a:t>• live_trader.py — main loop
• features.py — calc 35 features
• rl_v3.zip — trained model
• live_trades.db — SQLite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828800"/>
            <a:ext cx="4572000" cy="3657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3600" b="1">
                <a:solidFill>
                  <a:srgbClr val="34D399"/>
                </a:solidFill>
              </a:rPr>
              <a:t>🏦 MT5 (Hands)</a:t>
            </a:r>
          </a:p>
          <a:p>
            <a:r>
              <a:rPr sz="2400">
                <a:solidFill>
                  <a:srgbClr val="E4E4E7"/>
                </a:solidFill>
              </a:rPr>
              <a:t>• MT5 Terminal (broker)
• Live tick data
• Order execution
• Demo → Live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FBBF24"/>
                </a:solidFill>
              </a:rPr>
              <a:t>🔌 Bridge: pip install MetaTrader5 (Official API — </a:t>
            </a:r>
            <a:r>
              <a:rPr sz="2000" b="0" dirty="0" err="1">
                <a:solidFill>
                  <a:srgbClr val="FBBF24"/>
                </a:solidFill>
              </a:rPr>
              <a:t>ไม่ต้องใช้</a:t>
            </a:r>
            <a:r>
              <a:rPr sz="2000" b="0" dirty="0">
                <a:solidFill>
                  <a:srgbClr val="FBBF24"/>
                </a:solidFill>
              </a:rPr>
              <a:t> socket)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78BFA"/>
                </a:solidFill>
              </a:rPr>
              <a:t>🛡️ Risk Management — 3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1247120" cy="128016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82880" rtlCol="0" anchor="ctr"/>
          <a:lstStyle/>
          <a:p>
            <a:pPr algn="ctr"/>
            <a:r>
              <a:rPr lang="th-TH" sz="3600" b="1" dirty="0">
                <a:solidFill>
                  <a:srgbClr val="EF4444"/>
                </a:solidFill>
              </a:rPr>
              <a:t>   					</a:t>
            </a:r>
            <a:r>
              <a:rPr sz="3600" b="1" dirty="0">
                <a:solidFill>
                  <a:srgbClr val="EF4444"/>
                </a:solidFill>
              </a:rPr>
              <a:t>🔴 L1  </a:t>
            </a:r>
            <a:r>
              <a:rPr sz="2800" b="1" dirty="0">
                <a:solidFill>
                  <a:srgbClr val="E4E4E7"/>
                </a:solidFill>
              </a:rPr>
              <a:t>Hard Stop (Critical)</a:t>
            </a:r>
          </a:p>
          <a:p>
            <a:r>
              <a:rPr sz="2000" dirty="0">
                <a:solidFill>
                  <a:srgbClr val="71717A"/>
                </a:solidFill>
              </a:rPr>
              <a:t>Equity &lt; 85% → </a:t>
            </a:r>
            <a:r>
              <a:rPr sz="2000" dirty="0" err="1">
                <a:solidFill>
                  <a:srgbClr val="71717A"/>
                </a:solidFill>
              </a:rPr>
              <a:t>ปิดทุก</a:t>
            </a:r>
            <a:r>
              <a:rPr sz="2000" dirty="0">
                <a:solidFill>
                  <a:srgbClr val="71717A"/>
                </a:solidFill>
              </a:rPr>
              <a:t> position + </a:t>
            </a:r>
            <a:r>
              <a:rPr sz="2000" dirty="0" err="1">
                <a:solidFill>
                  <a:srgbClr val="71717A"/>
                </a:solidFill>
              </a:rPr>
              <a:t>หยุดเทรด</a:t>
            </a:r>
            <a:endParaRPr sz="2000" dirty="0">
              <a:solidFill>
                <a:srgbClr val="71717A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3017520"/>
            <a:ext cx="11247120" cy="128016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82880" rtlCol="0" anchor="ctr"/>
          <a:lstStyle/>
          <a:p>
            <a:pPr algn="ctr"/>
            <a:r>
              <a:rPr lang="th-TH" sz="3600" b="1" dirty="0">
                <a:solidFill>
                  <a:srgbClr val="FBBF24"/>
                </a:solidFill>
              </a:rPr>
              <a:t>					   </a:t>
            </a:r>
            <a:r>
              <a:rPr sz="3600" b="1" dirty="0">
                <a:solidFill>
                  <a:srgbClr val="FBBF24"/>
                </a:solidFill>
              </a:rPr>
              <a:t>🟡 L2  </a:t>
            </a:r>
            <a:r>
              <a:rPr sz="2800" b="1" dirty="0">
                <a:solidFill>
                  <a:srgbClr val="E4E4E7"/>
                </a:solidFill>
              </a:rPr>
              <a:t>Soft Pause (Warning)</a:t>
            </a:r>
          </a:p>
          <a:p>
            <a:r>
              <a:rPr dirty="0">
                <a:solidFill>
                  <a:srgbClr val="71717A"/>
                </a:solidFill>
              </a:rPr>
              <a:t>Rolling PF &lt; 0.9 (50 trades) → </a:t>
            </a:r>
            <a:r>
              <a:rPr dirty="0" err="1">
                <a:solidFill>
                  <a:srgbClr val="71717A"/>
                </a:solidFill>
              </a:rPr>
              <a:t>หยุด</a:t>
            </a:r>
            <a:r>
              <a:rPr dirty="0">
                <a:solidFill>
                  <a:srgbClr val="71717A"/>
                </a:solidFill>
              </a:rPr>
              <a:t> 24 </a:t>
            </a:r>
            <a:r>
              <a:rPr dirty="0" err="1">
                <a:solidFill>
                  <a:srgbClr val="71717A"/>
                </a:solidFill>
              </a:rPr>
              <a:t>ชม</a:t>
            </a:r>
            <a:r>
              <a:rPr dirty="0">
                <a:solidFill>
                  <a:srgbClr val="71717A"/>
                </a:solidFill>
              </a:rPr>
              <a:t> + trigger fine-tune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480560"/>
            <a:ext cx="11247120" cy="128016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82880" rtlCol="0" anchor="ctr"/>
          <a:lstStyle/>
          <a:p>
            <a:pPr algn="ctr"/>
            <a:r>
              <a:rPr lang="th-TH" sz="3600" b="1" dirty="0">
                <a:solidFill>
                  <a:srgbClr val="34D399"/>
                </a:solidFill>
              </a:rPr>
              <a:t>						   </a:t>
            </a:r>
            <a:r>
              <a:rPr sz="3600" b="1" dirty="0">
                <a:solidFill>
                  <a:srgbClr val="34D399"/>
                </a:solidFill>
              </a:rPr>
              <a:t>🟢 L3  </a:t>
            </a:r>
            <a:r>
              <a:rPr sz="2800" b="1" dirty="0">
                <a:solidFill>
                  <a:srgbClr val="E4E4E7"/>
                </a:solidFill>
              </a:rPr>
              <a:t>Position Sizing (Always)</a:t>
            </a:r>
          </a:p>
          <a:p>
            <a:r>
              <a:rPr sz="2000" dirty="0">
                <a:solidFill>
                  <a:srgbClr val="71717A"/>
                </a:solidFill>
              </a:rPr>
              <a:t>Risk 1% per trade · Max 3 positions · Dynamic lot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923C"/>
                </a:solidFill>
              </a:rPr>
              <a:t>💧 Concept Drift — ทำไม Model เก่าใช้ไม่ได้นาน?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71717A"/>
                </a:solidFill>
              </a:rPr>
              <a:t>Model เทรนวันนี้ดี ปีหน้าอาจไม่ได้แล้ว — เพราะตลาดเปลี่ยน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3657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3600" b="1">
                <a:solidFill>
                  <a:srgbClr val="EF4444"/>
                </a:solidFill>
              </a:rPr>
              <a:t>📉 ทำไมเกิด Drift?</a:t>
            </a:r>
          </a:p>
          <a:p>
            <a:r>
              <a:rPr sz="2400">
                <a:solidFill>
                  <a:srgbClr val="E4E4E7"/>
                </a:solidFill>
              </a:rPr>
              <a:t>• Algorithm trader เพิ่ม → arbitrage หาย
• นโยบายเศรษฐกิจเปลี่ยน (FED, ECB)
• เหตุการณ์ใหม่ (COVID, สงคราม, AI boom)
• Liquidity เปลี่ยน
• Pattern ที่เคย work → คนใช้กันหมด → ไม่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3600" b="1">
                <a:solidFill>
                  <a:srgbClr val="34D399"/>
                </a:solidFill>
              </a:rPr>
              <a:t>✅ ทางแก้</a:t>
            </a:r>
          </a:p>
          <a:p>
            <a:r>
              <a:rPr sz="2400">
                <a:solidFill>
                  <a:srgbClr val="E4E4E7"/>
                </a:solidFill>
              </a:rPr>
              <a:t>• ตรวจจับ: Walk-forward validation
• วัดผล live: rolling PF (50 trades)
• Update: Fine-tune ทุก 3 เดือน
• Reset: Retrain scratch ทุก 1 ปี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BBF24"/>
                </a:solidFill>
              </a:rPr>
              <a:t>"ตลาดไม่เคยหยุดเปลี่ยน → Model ก็ต้องไม่หยุดเรียน"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61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1717A"/>
                </a:solidFill>
              </a:rP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61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B923C"/>
                </a:solidFill>
              </a:rPr>
              <a:t>🔄 FINE-TUNE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615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0" b="0" dirty="0"/>
              <a:t>⚙️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61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E4E4E7"/>
                </a:solidFill>
              </a:rPr>
              <a:t>"Adapt or Die — Edge </a:t>
            </a:r>
            <a:r>
              <a:rPr sz="3200" b="0" dirty="0" err="1">
                <a:solidFill>
                  <a:srgbClr val="E4E4E7"/>
                </a:solidFill>
              </a:rPr>
              <a:t>ไม่</a:t>
            </a:r>
            <a:r>
              <a:rPr sz="3200" b="0" dirty="0">
                <a:solidFill>
                  <a:srgbClr val="E4E4E7"/>
                </a:solidFill>
              </a:rPr>
              <a:t> Permanent"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923C"/>
                </a:solidFill>
              </a:rPr>
              <a:t>🎚️ 3 Levels of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657600" cy="41148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4000" b="1">
                <a:solidFill>
                  <a:srgbClr val="FB923C"/>
                </a:solidFill>
              </a:rPr>
              <a:t>👋 Level 1: MANUAL</a:t>
            </a:r>
          </a:p>
          <a:p>
            <a:r>
              <a:rPr sz="2800">
                <a:solidFill>
                  <a:srgbClr val="E4E4E7"/>
                </a:solidFill>
              </a:rPr>
              <a:t>เริ่มต้น 2-3 รอบแรก
• รัน command เอง
• ดูผลทุก step
• เข้าใจทุกอย่าง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554480"/>
            <a:ext cx="3657600" cy="41148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4000" b="1">
                <a:solidFill>
                  <a:srgbClr val="FB923C"/>
                </a:solidFill>
              </a:rPr>
              <a:t>⏰ Level 2: SCHEDULED</a:t>
            </a:r>
          </a:p>
          <a:p>
            <a:r>
              <a:rPr sz="2800">
                <a:solidFill>
                  <a:srgbClr val="E4E4E7"/>
                </a:solidFill>
              </a:rPr>
              <a:t>หลังคุ้นเคย
• Task Scheduler / cron
• ทุก 90 วันอัตโนมัติ
• ไม่ต้องจำ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657600" cy="41148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4000" b="1">
                <a:solidFill>
                  <a:srgbClr val="FB923C"/>
                </a:solidFill>
              </a:rPr>
              <a:t>🤖 Level 3: TRIGGER-BASED</a:t>
            </a:r>
          </a:p>
          <a:p>
            <a:r>
              <a:rPr sz="2800">
                <a:solidFill>
                  <a:srgbClr val="E4E4E7"/>
                </a:solidFill>
              </a:rPr>
              <a:t>Smart auto
• Drift detection
• Auto เมื่อ PF drop
• Cooldown + gates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923C"/>
                </a:solidFill>
              </a:rPr>
              <a:t>📅 ตัวอย่าง 1 ปี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6304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4E4E7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Trade with rl_v3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0312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0312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Live trades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4E4E7"/>
                </a:solidFill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</a:rPr>
              <a:t>Fine-tune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4320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4320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rl_v4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79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4E4E7"/>
                </a:solidFill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83279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</a:rPr>
              <a:t>Fine-tune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383279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383279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rl_v5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59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4E4E7"/>
                </a:solidFill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23359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</a:rPr>
              <a:t>Fine-tune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59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50k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023359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rl_v6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4E4E7"/>
                </a:solidFill>
              </a:rPr>
              <a:t>EOY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66344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BBF24"/>
                </a:solidFill>
              </a:rPr>
              <a:t>RETRAIN SCRATCH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663440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200k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634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rl_v7 (clean reset)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F4444"/>
                </a:solidFill>
              </a:rPr>
              <a:t>🚨 5 ข้อผิดพลาดที่คนทำบ่อย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เจอกันบ่อย — ระวังไว้จะประหยัดเวลาได้เยอะ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EF4444"/>
                </a:solidFill>
              </a:rPr>
              <a:t>1️⃣ Data Leakage</a:t>
            </a:r>
          </a:p>
          <a:p>
            <a:r>
              <a:rPr>
                <a:solidFill>
                  <a:srgbClr val="E4E4E7"/>
                </a:solidFill>
              </a:rPr>
              <a:t>อาการ: WR 100% ดูเทพ
สาเหตุ: future_return ปนใน features
✅ Drop leaky cols ก่อนเทรน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737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EF4444"/>
                </a:solidFill>
              </a:rPr>
              <a:t>2️⃣ Class Imbalance</a:t>
            </a:r>
          </a:p>
          <a:p>
            <a:r>
              <a:rPr>
                <a:solidFill>
                  <a:srgbClr val="E4E4E7"/>
                </a:solidFill>
              </a:rPr>
              <a:t>อาการ: Trades = 0
สาเหตุ: FLAT 73% → model ขี้เกียจ
✅ Relabel quantile 33/33/33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737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EF4444"/>
                </a:solidFill>
              </a:rPr>
              <a:t>3️⃣ Buy-and-Hold Trap</a:t>
            </a:r>
          </a:p>
          <a:p>
            <a:r>
              <a:rPr>
                <a:solidFill>
                  <a:srgbClr val="E4E4E7"/>
                </a:solidFill>
              </a:rPr>
              <a:t>อาการ: เปิด long ครั้งเดียว ถือ 3 ปี
สาเหตุ: MTM reward
✅ Realized + max_hold_bars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EF4444"/>
                </a:solidFill>
              </a:rPr>
              <a:t>4️⃣ Skip Walk-Forward</a:t>
            </a:r>
          </a:p>
          <a:p>
            <a:r>
              <a:rPr>
                <a:solidFill>
                  <a:srgbClr val="E4E4E7"/>
                </a:solidFill>
              </a:rPr>
              <a:t>อาการ: Backtest ดี → live พัง
สาเหตุ: Overfit ที่ซ่อนอยู่
✅ WF 5 windows ทุกครั้ง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EF4444"/>
                </a:solidFill>
              </a:rPr>
              <a:t>5️⃣ Forgot Maintenance</a:t>
            </a:r>
          </a:p>
          <a:p>
            <a:r>
              <a:rPr>
                <a:solidFill>
                  <a:srgbClr val="E4E4E7"/>
                </a:solidFill>
              </a:rPr>
              <a:t>อาการ: Deploy แล้วทิ้ง → กำไรหาย
สาเหตุ: Concept drift
✅ Fine-tune ทุก 3 เดือน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023360"/>
            <a:ext cx="3657600" cy="210312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800" b="1">
                <a:solidFill>
                  <a:srgbClr val="34D399"/>
                </a:solidFill>
              </a:rPr>
              <a:t>💡 จำไว้</a:t>
            </a:r>
          </a:p>
          <a:p>
            <a:r>
              <a:rPr>
                <a:solidFill>
                  <a:srgbClr val="E4E4E7"/>
                </a:solidFill>
              </a:rPr>
              <a:t>คนเก่ง = ตรวจเจอเร็ว + แก้ได้
ไม่ใช่ "ไม่เคยทำผิด"
ทุกข้อข้างบนเป็นเรื่องปกติ!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</a:rPr>
              <a:t>🎯 Mindset สำคัญ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4400" b="1">
                <a:solidFill>
                  <a:srgbClr val="34D399"/>
                </a:solidFill>
              </a:rPr>
              <a:t>✅ DO</a:t>
            </a:r>
          </a:p>
          <a:p>
            <a:r>
              <a:rPr sz="2800">
                <a:solidFill>
                  <a:srgbClr val="E4E4E7"/>
                </a:solidFill>
              </a:rPr>
              <a:t>• เริ่มเล็ก, validate ทุกขั้นตอน</a:t>
            </a:r>
          </a:p>
          <a:p>
            <a:r>
              <a:rPr sz="2800">
                <a:solidFill>
                  <a:srgbClr val="E4E4E7"/>
                </a:solidFill>
              </a:rPr>
              <a:t>• ใช้ demo ก่อน live เสมอ</a:t>
            </a:r>
          </a:p>
          <a:p>
            <a:r>
              <a:rPr sz="2800">
                <a:solidFill>
                  <a:srgbClr val="E4E4E7"/>
                </a:solidFill>
              </a:rPr>
              <a:t>• Walk-forward ก่อน deploy</a:t>
            </a:r>
          </a:p>
          <a:p>
            <a:r>
              <a:rPr sz="2800">
                <a:solidFill>
                  <a:srgbClr val="E4E4E7"/>
                </a:solidFill>
              </a:rPr>
              <a:t>• Backup model เก่าก่อน update</a:t>
            </a:r>
          </a:p>
          <a:p>
            <a:r>
              <a:rPr sz="2800">
                <a:solidFill>
                  <a:srgbClr val="E4E4E7"/>
                </a:solidFill>
              </a:rPr>
              <a:t>• Risk management = ห้ามข้าม</a:t>
            </a:r>
          </a:p>
          <a:p>
            <a:r>
              <a:rPr sz="2800">
                <a:solidFill>
                  <a:srgbClr val="E4E4E7"/>
                </a:solidFill>
              </a:rPr>
              <a:t>• Log ทุก trade + state</a:t>
            </a:r>
          </a:p>
          <a:p>
            <a:r>
              <a:rPr sz="2800">
                <a:solidFill>
                  <a:srgbClr val="E4E4E7"/>
                </a:solidFill>
              </a:rPr>
              <a:t>• ยอมรับว่า edge มีวันหมด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8181B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4400" b="1">
                <a:solidFill>
                  <a:srgbClr val="EF4444"/>
                </a:solidFill>
              </a:rPr>
              <a:t>❌ DON'T</a:t>
            </a:r>
          </a:p>
          <a:p>
            <a:r>
              <a:rPr sz="2800">
                <a:solidFill>
                  <a:srgbClr val="E4E4E7"/>
                </a:solidFill>
              </a:rPr>
              <a:t>• ห้าม deploy โดยไม่ผ่าน WF</a:t>
            </a:r>
          </a:p>
          <a:p>
            <a:r>
              <a:rPr sz="2800">
                <a:solidFill>
                  <a:srgbClr val="E4E4E7"/>
                </a:solidFill>
              </a:rPr>
              <a:t>• ห้าม auto-deploy โดยไม่มี gate</a:t>
            </a:r>
          </a:p>
          <a:p>
            <a:r>
              <a:rPr sz="2800">
                <a:solidFill>
                  <a:srgbClr val="E4E4E7"/>
                </a:solidFill>
              </a:rPr>
              <a:t>• ห้าม fine-tune ถี่เกิน</a:t>
            </a:r>
          </a:p>
          <a:p>
            <a:r>
              <a:rPr sz="2800">
                <a:solidFill>
                  <a:srgbClr val="E4E4E7"/>
                </a:solidFill>
              </a:rPr>
              <a:t>• ห้ามใช้ leverage สูงตอนเริ่ม</a:t>
            </a:r>
          </a:p>
          <a:p>
            <a:r>
              <a:rPr sz="2800">
                <a:solidFill>
                  <a:srgbClr val="E4E4E7"/>
                </a:solidFill>
              </a:rPr>
              <a:t>• ห้ามคาดหวังกำไร 100%</a:t>
            </a:r>
          </a:p>
          <a:p>
            <a:r>
              <a:rPr sz="2800">
                <a:solidFill>
                  <a:srgbClr val="E4E4E7"/>
                </a:solidFill>
              </a:rPr>
              <a:t>• ห้าม fine-tune บน new only</a:t>
            </a:r>
          </a:p>
          <a:p>
            <a:r>
              <a:rPr sz="2800">
                <a:solidFill>
                  <a:srgbClr val="E4E4E7"/>
                </a:solidFill>
              </a:rPr>
              <a:t>• ห้าม ignore drift signals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</a:rPr>
              <a:t>📖 Glossary — คำศัพท์สำคัญ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คำศัพท์ที่ใช้ตลอดคอร์ส — เก็บไว้อ้างอิง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📊 Backtest</a:t>
            </a:r>
          </a:p>
          <a:p>
            <a:r>
              <a:rPr sz="1600">
                <a:solidFill>
                  <a:srgbClr val="E4E4E7"/>
                </a:solidFill>
              </a:rPr>
              <a:t>ทดสอบ strategy บนข้อมูลในอดีต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73736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⚖️ Walk-Forward</a:t>
            </a:r>
          </a:p>
          <a:p>
            <a:r>
              <a:rPr sz="1600">
                <a:solidFill>
                  <a:srgbClr val="E4E4E7"/>
                </a:solidFill>
              </a:rPr>
              <a:t>Backtest แบบเลื่อนหน้าต่าง พิสูจน์ robust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📐 Profit Factor</a:t>
            </a:r>
          </a:p>
          <a:p>
            <a:r>
              <a:rPr sz="1600">
                <a:solidFill>
                  <a:srgbClr val="E4E4E7"/>
                </a:solidFill>
              </a:rPr>
              <a:t>กำไร÷ขาดทุน · &gt;1.0 = กำไร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73736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📉 Drawdown</a:t>
            </a:r>
          </a:p>
          <a:p>
            <a:r>
              <a:rPr sz="1600">
                <a:solidFill>
                  <a:srgbClr val="E4E4E7"/>
                </a:solidFill>
              </a:rPr>
              <a:t>% ที่ equity ตกจากจุดสูงสุด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91839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🎯 Win Rate</a:t>
            </a:r>
          </a:p>
          <a:p>
            <a:r>
              <a:rPr sz="1600">
                <a:solidFill>
                  <a:srgbClr val="E4E4E7"/>
                </a:solidFill>
              </a:rPr>
              <a:t>% trade ที่กำไร · &gt;50% = มี 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291839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📊 Sharpe Ratio</a:t>
            </a:r>
          </a:p>
          <a:p>
            <a:r>
              <a:rPr sz="1600">
                <a:solidFill>
                  <a:srgbClr val="E4E4E7"/>
                </a:solidFill>
              </a:rPr>
              <a:t>Risk-adjusted return · &gt;1.0 ดี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39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🔄 Fine-tune</a:t>
            </a:r>
          </a:p>
          <a:p>
            <a:r>
              <a:rPr sz="1600">
                <a:solidFill>
                  <a:srgbClr val="E4E4E7"/>
                </a:solidFill>
              </a:rPr>
              <a:t>Train ต่อจาก model เก่าด้วย data ใหม่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291839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💧 Concept Drift</a:t>
            </a:r>
          </a:p>
          <a:p>
            <a:r>
              <a:rPr sz="1600">
                <a:solidFill>
                  <a:srgbClr val="E4E4E7"/>
                </a:solidFill>
              </a:rPr>
              <a:t>ตลาดเปลี่ยน → model เก่าใช้ไม่ได้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84632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🌍 Environment</a:t>
            </a:r>
          </a:p>
          <a:p>
            <a:r>
              <a:rPr sz="1600">
                <a:solidFill>
                  <a:srgbClr val="E4E4E7"/>
                </a:solidFill>
              </a:rPr>
              <a:t>"โลก" ที่ agent อยู่ใน 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84632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🧠 Policy</a:t>
            </a:r>
          </a:p>
          <a:p>
            <a:r>
              <a:rPr sz="1600">
                <a:solidFill>
                  <a:srgbClr val="E4E4E7"/>
                </a:solidFill>
              </a:rPr>
              <a:t>"กฎ" ของ agent · state →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4632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📊 State</a:t>
            </a:r>
          </a:p>
          <a:p>
            <a:r>
              <a:rPr sz="1600">
                <a:solidFill>
                  <a:srgbClr val="E4E4E7"/>
                </a:solidFill>
              </a:rPr>
              <a:t>ข้อมูลที่ agent เห็น ณ เวลานั้น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846320"/>
            <a:ext cx="2743200" cy="137160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</a:rPr>
              <a:t>⚡ Action</a:t>
            </a:r>
          </a:p>
          <a:p>
            <a:r>
              <a:rPr sz="1600">
                <a:solidFill>
                  <a:srgbClr val="E4E4E7"/>
                </a:solidFill>
              </a:rPr>
              <a:t>สิ่งที่ agent ทำได้ · Hold/Buy/Sell/Close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BBF24"/>
                </a:solidFill>
              </a:rPr>
              <a:t>🎓 ขอบคุณครับ!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61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E4E4E7"/>
                </a:solidFill>
              </a:rPr>
              <a:t>"ML Trading ไม่ใช่ magic — เป็น engineering"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61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1717A"/>
                </a:solidFill>
              </a:rPr>
              <a:t>80% ของงาน = data prep + monitoring +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61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1717A"/>
                </a:solidFill>
              </a:rPr>
              <a:t>20% = model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6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/>
              <a:t>🚀 📊 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1641</Words>
  <Application>Microsoft Office PowerPoint</Application>
  <PresentationFormat>Widescreen</PresentationFormat>
  <Paragraphs>254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Ohm Programmie</cp:lastModifiedBy>
  <cp:revision>2</cp:revision>
  <dcterms:created xsi:type="dcterms:W3CDTF">2013-01-27T09:14:16Z</dcterms:created>
  <dcterms:modified xsi:type="dcterms:W3CDTF">2026-05-05T16:05:11Z</dcterms:modified>
  <cp:category/>
</cp:coreProperties>
</file>