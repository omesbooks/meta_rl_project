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0A5FA"/>
                </a:solidFill>
              </a:rPr>
              <a:t>📊 RL Training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E4E4E7"/>
                </a:solidFill>
              </a:rPr>
              <a:t>อ่านค่าระหว่างเทรน — รู้ทันปัญหา ก่อนเสียเวลา 30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71717A"/>
                </a:solidFill>
              </a:rPr>
              <a:t>Healthy Metrics สำหรับ PPO + Stable-Baselines3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/>
              <a:t>🩺 📈 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71717A"/>
                </a:solidFill>
              </a:rPr>
              <a:t>Course Slides · 14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🤔 ทำไมต้องดู Metrics?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เทรน RL ใช้เวลา 30 นาที - 3 ชั่วโมง — ถ้าเข้าใจ metrics จะรู้ว่า: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731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/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4D399"/>
                </a:solidFill>
              </a:rPr>
              <a:t>Training กำลังไปได้ดี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→ ปล่อยให้รันต่อไปจนจบ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40080" y="3611879"/>
            <a:ext cx="731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/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11879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มีอาการแปลกๆ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→ หยุดทันที อย่าเสียเวลา ปรับแล้วเริ่มใหม่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79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731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/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</a:rPr>
              <a:t>Training พังแล้ว (collapse)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492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→ Stop + Debug +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FBBF24"/>
                </a:solidFill>
              </a:rPr>
              <a:t>"Stop early, save time" — กฎข้อแรกของ ML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📋 6 Metrics สำคัญ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1717A"/>
                </a:solidFill>
              </a:rPr>
              <a:t>ดูตัวเหล่านี้ในระหว่างเทรน — แต่ละตัวบอกคนละเรื่อง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💰</a:t>
            </a:r>
          </a:p>
          <a:p>
            <a:pPr algn="ctr"/>
            <a:r>
              <a:rPr sz="2400" b="1">
                <a:solidFill>
                  <a:srgbClr val="34D399"/>
                </a:solidFill>
                <a:latin typeface="Consolas"/>
              </a:rPr>
              <a:t>ep_rew_mean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Reward เฉลี่ย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model เรียนได้ผลไหม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📐</a:t>
            </a:r>
          </a:p>
          <a:p>
            <a:pPr algn="ctr"/>
            <a:r>
              <a:rPr sz="2400" b="1">
                <a:solidFill>
                  <a:srgbClr val="60A5FA"/>
                </a:solidFill>
                <a:latin typeface="Consolas"/>
              </a:rPr>
              <a:t>approx_kl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Policy stability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เปลี่ยนเร็วไปไหม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✂️</a:t>
            </a:r>
          </a:p>
          <a:p>
            <a:pPr algn="ctr"/>
            <a:r>
              <a:rPr sz="2400" b="1">
                <a:solidFill>
                  <a:srgbClr val="A78BFA"/>
                </a:solidFill>
                <a:latin typeface="Consolas"/>
              </a:rPr>
              <a:t>clip_fraction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How much clipping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stable vs aggressive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🎯</a:t>
            </a:r>
          </a:p>
          <a:p>
            <a:pPr algn="ctr"/>
            <a:r>
              <a:rPr sz="2400" b="1">
                <a:solidFill>
                  <a:srgbClr val="F472B6"/>
                </a:solidFill>
                <a:latin typeface="Consolas"/>
              </a:rPr>
              <a:t>explained_var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Critic quality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ทาย value ได้แม่นไหม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🔍</a:t>
            </a:r>
          </a:p>
          <a:p>
            <a:pPr algn="ctr"/>
            <a:r>
              <a:rPr sz="2400" b="1">
                <a:solidFill>
                  <a:srgbClr val="FB923C"/>
                </a:solidFill>
                <a:latin typeface="Consolas"/>
              </a:rPr>
              <a:t>entropy_loss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Exploration level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explore vs exploit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5400"/>
              <a:t>📉</a:t>
            </a:r>
          </a:p>
          <a:p>
            <a:pPr algn="ctr"/>
            <a:r>
              <a:rPr sz="2400" b="1">
                <a:solidFill>
                  <a:srgbClr val="FBBF24"/>
                </a:solidFill>
                <a:latin typeface="Consolas"/>
              </a:rPr>
              <a:t>value_loss</a:t>
            </a:r>
          </a:p>
          <a:p>
            <a:pPr algn="ctr"/>
            <a:r>
              <a:rPr sz="2000">
                <a:solidFill>
                  <a:srgbClr val="E4E4E7"/>
                </a:solidFill>
              </a:rPr>
              <a:t>Critic learning</a:t>
            </a:r>
          </a:p>
          <a:p>
            <a:pPr algn="ctr"/>
            <a:r>
              <a:rPr>
                <a:solidFill>
                  <a:srgbClr val="71717A"/>
                </a:solidFill>
              </a:rPr>
              <a:t>บอก: critic ฝึกได้ดีไหม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</a:rPr>
              <a:t>💰 ep_rew_mean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71717A"/>
                </a:solidFill>
              </a:rPr>
              <a:t>Reward เฉลี่ยต่อ episode — ตัวสำคัญที่สุด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4E4E7"/>
                </a:solidFill>
              </a:rPr>
              <a:t>ทำหน้าที่: บอกว่า agent เรียนรู้ได้ผลไหม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</a:rPr>
              <a:t>Pattern ที่ควรเห็น: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/>
            <a:r>
              <a:rPr sz="4000" b="1">
                <a:solidFill>
                  <a:srgbClr val="34D399"/>
                </a:solidFill>
              </a:rPr>
              <a:t>📈 ขึ้นเรื่อยๆ</a:t>
            </a:r>
          </a:p>
          <a:p>
            <a:pPr algn="ctr"/>
            <a:r>
              <a:rPr sz="2400">
                <a:solidFill>
                  <a:srgbClr val="E4E4E7"/>
                </a:solidFill>
                <a:latin typeface="Consolas"/>
              </a:rPr>
              <a:t>Step 0:  -0.5
Step 50k: 0.5
Step 100k: 1.5
Step 200k: 2.5</a:t>
            </a:r>
          </a:p>
          <a:p>
            <a:pPr algn="ctr"/>
            <a:r>
              <a:rPr sz="2400">
                <a:solidFill>
                  <a:srgbClr val="34D399"/>
                </a:solidFill>
              </a:rPr>
              <a:t>✅ กำลังเรียนรู้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/>
            <a:r>
              <a:rPr sz="4000" b="1">
                <a:solidFill>
                  <a:srgbClr val="FBBF24"/>
                </a:solidFill>
              </a:rPr>
              <a:t>➡️ ทรงตัว</a:t>
            </a:r>
          </a:p>
          <a:p>
            <a:pPr algn="ctr"/>
            <a:r>
              <a:rPr sz="2400">
                <a:solidFill>
                  <a:srgbClr val="E4E4E7"/>
                </a:solidFill>
                <a:latin typeface="Consolas"/>
              </a:rPr>
              <a:t>Step 0:  -0.1
Step 50k: 0.0
Step 100k: 0.0
Step 200k: 0.0</a:t>
            </a:r>
          </a:p>
          <a:p>
            <a:pPr algn="ctr"/>
            <a:r>
              <a:rPr sz="2400">
                <a:solidFill>
                  <a:srgbClr val="FBBF24"/>
                </a:solidFill>
              </a:rPr>
              <a:t>🟡 ไม่เรียน → check approx_kl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/>
            <a:r>
              <a:rPr sz="4000" b="1">
                <a:solidFill>
                  <a:srgbClr val="EF4444"/>
                </a:solidFill>
              </a:rPr>
              <a:t>📉 ลดลง / ลบ</a:t>
            </a:r>
          </a:p>
          <a:p>
            <a:pPr algn="ctr"/>
            <a:r>
              <a:rPr sz="2400">
                <a:solidFill>
                  <a:srgbClr val="E4E4E7"/>
                </a:solidFill>
                <a:latin typeface="Consolas"/>
              </a:rPr>
              <a:t>Step 0:  -0.5
Step 50k: -1.0
Step 100k: -2.0
Step 200k: -5.0</a:t>
            </a:r>
          </a:p>
          <a:p>
            <a:pPr algn="ctr"/>
            <a:r>
              <a:rPr sz="2400">
                <a:solidFill>
                  <a:srgbClr val="EF4444"/>
                </a:solidFill>
              </a:rPr>
              <a:t>❌ Collapse → Stop!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0A5FA"/>
                </a:solidFill>
              </a:rPr>
              <a:t>📐 approx_kl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KL Divergence — Policy ใหม่ต่างจาก Policy เก่าแค่ไหน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"Proximal" ใน PPO = ห้าม Policy เปลี่ยนเร็วเกิน → approx_kl คือตัววัด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34D399"/>
                </a:solidFill>
                <a:latin typeface="Consolas"/>
              </a:rPr>
              <a:t>0.005-0.02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632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3239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Smooth, stable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34D399"/>
                </a:solidFill>
                <a:latin typeface="Consolas"/>
              </a:rPr>
              <a:t>0.02-0.05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20439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  <a:latin typeface="Consolas"/>
              </a:rPr>
              <a:t>0.05-0.10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🟡 พอใช้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77639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Watch carefully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F4444"/>
                </a:solidFill>
                <a:latin typeface="Consolas"/>
              </a:rPr>
              <a:t>0.10-0.30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348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Unstable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F4444"/>
                </a:solidFill>
                <a:latin typeface="Consolas"/>
              </a:rPr>
              <a:t>&gt; 0.30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920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💥 พัง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Policy collapse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F4444"/>
                </a:solidFill>
              </a:rPr>
              <a:t>⚠️  ของคุณตอนนี้ approx_kl = 0.51 → 10× เกิน 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   วิธีแก้: ลด window_size, ลด learning_rate, ลด clip_range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78BFA"/>
                </a:solidFill>
              </a:rPr>
              <a:t>✂️ clip_fraction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1717A"/>
                </a:solidFill>
              </a:rPr>
              <a:t>% ของ updates ที่โดน clip (ห้ามเปลี่ยนเกิน 20%)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74320" rtlCol="0" anchor="ctr"/>
          <a:lstStyle/>
          <a:p>
            <a:pPr algn="ctr"/>
            <a:r>
              <a:rPr sz="2800" b="1">
                <a:solidFill>
                  <a:srgbClr val="A78BFA"/>
                </a:solidFill>
              </a:rPr>
              <a:t>💡 เปรียบเหมือนการบังคับเลี้ยวรถ:</a:t>
            </a:r>
          </a:p>
          <a:p>
            <a:endParaRPr sz="2800" b="1">
              <a:solidFill>
                <a:srgbClr val="A78BFA"/>
              </a:solidFill>
            </a:endParaRPr>
          </a:p>
          <a:p>
            <a:r>
              <a:rPr>
                <a:solidFill>
                  <a:srgbClr val="E4E4E7"/>
                </a:solidFill>
                <a:latin typeface="Consolas"/>
              </a:rPr>
              <a:t>  clip_range = 0.2  →  หมุนพวงมาลัยได้สูงสุด 20% ต่อครั้ง</a:t>
            </a:r>
          </a:p>
          <a:p>
            <a:r>
              <a:rPr>
                <a:solidFill>
                  <a:srgbClr val="E4E4E7"/>
                </a:solidFill>
                <a:latin typeface="Consolas"/>
              </a:rPr>
              <a:t>  clip_fraction = 0.05  →  5% ของครั้งที่เลี้ยวเต็ม (= 95% เลี้ยวเบาๆ)  ✅</a:t>
            </a:r>
          </a:p>
          <a:p>
            <a:r>
              <a:rPr>
                <a:solidFill>
                  <a:srgbClr val="E4E4E7"/>
                </a:solidFill>
                <a:latin typeface="Consolas"/>
              </a:rPr>
              <a:t>  clip_fraction = 0.50  →  50% ของครั้งที่เลี้ยวสุด (= ขับห่ามมาก!)   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640080" y="47823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onsolas"/>
              </a:rPr>
              <a:t>0.0 - 0.1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78231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78231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6636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40080" y="519379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onsolas"/>
              </a:rPr>
              <a:t>0.1 - 0.2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19379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9379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0080" y="560527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Consolas"/>
              </a:rPr>
              <a:t>0.2 - 0.3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60527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🟡 กลาง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60527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Borderline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8932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40080" y="601675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nsolas"/>
              </a:rPr>
              <a:t>&gt; 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6016752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6016752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Policy unstable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72B6"/>
                </a:solidFill>
              </a:rPr>
              <a:t>🎯 explained_variance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1717A"/>
                </a:solidFill>
              </a:rPr>
              <a:t>Critic ทาย expected reward ได้แม่นแค่ไหน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Critic = NN ตัวที่ 2 ใน PPO — ทำนาย 'state นี้คาดว่าได้ reward เท่าไหร่'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onsolas"/>
              </a:rPr>
              <a:t>0.8 - 1.0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632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3239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Critic ทายแม่น 80%+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onsolas"/>
              </a:rPr>
              <a:t>0.5 - 0.8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20439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Useful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Consolas"/>
              </a:rPr>
              <a:t>0.2 - 0.5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🟡 พอใช้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77639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Marginal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nsolas"/>
              </a:rPr>
              <a:t>0 - 0.2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348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Critic ใช้ไม่ได้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nsolas"/>
              </a:rPr>
              <a:t>&lt;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</a:rPr>
              <a:t>💥 พัง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ทายแย่กว่าค่าเฉลี่ย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</a:rPr>
              <a:t>💡 Pattern: เริ่มต้น 0 → เพิ่มขึ้นเรื่อยๆ → 0.7+ ตอนจบ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71717A"/>
                </a:solidFill>
              </a:rPr>
              <a:t>    ถ้า ev &lt; 0 = critic ทำลาย training → อาจต้อง restart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923C"/>
                </a:solidFill>
              </a:rPr>
              <a:t>🔍 entropy_loss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71717A"/>
                </a:solidFill>
              </a:rPr>
              <a:t>ระดับการสำรวจ (exploration) ของ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entropy สูง = สำรวจหลาย actions  ·  entropy ต่ำ = มั่นใจ ใช้ action เดิม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หมายเหตุ: รายงานเป็น negative loss → ค่าลบมากกว่า = exploration มากกว่า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📅 Healthy Pattern ตลอดการเทรน: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74320" rtlCol="0" anchor="ctr"/>
          <a:lstStyle/>
          <a:p>
            <a:pPr algn="ctr"/>
            <a:r>
              <a:rPr sz="3600" b="1">
                <a:solidFill>
                  <a:srgbClr val="34D399"/>
                </a:solidFill>
              </a:rPr>
              <a:t>Early
0-30%</a:t>
            </a:r>
          </a:p>
          <a:p>
            <a:pPr algn="ctr"/>
            <a:r>
              <a:rPr sz="3200">
                <a:solidFill>
                  <a:srgbClr val="E4E4E7"/>
                </a:solidFill>
                <a:latin typeface="Consolas"/>
              </a:rPr>
              <a:t>-1.2 to -1.0</a:t>
            </a:r>
          </a:p>
          <a:p>
            <a:pPr algn="ctr"/>
            <a:r>
              <a:rPr sz="2400">
                <a:solidFill>
                  <a:srgbClr val="34D399"/>
                </a:solidFill>
              </a:rPr>
              <a:t>🌱 สำรวจมาก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74320" rtlCol="0" anchor="ctr"/>
          <a:lstStyle/>
          <a:p>
            <a:pPr algn="ctr"/>
            <a:r>
              <a:rPr sz="3600" b="1">
                <a:solidFill>
                  <a:srgbClr val="60A5FA"/>
                </a:solidFill>
              </a:rPr>
              <a:t>Mid
30-70%</a:t>
            </a:r>
          </a:p>
          <a:p>
            <a:pPr algn="ctr"/>
            <a:r>
              <a:rPr sz="3200">
                <a:solidFill>
                  <a:srgbClr val="E4E4E7"/>
                </a:solidFill>
                <a:latin typeface="Consolas"/>
              </a:rPr>
              <a:t>-0.8 to -0.5</a:t>
            </a:r>
          </a:p>
          <a:p>
            <a:pPr algn="ctr"/>
            <a:r>
              <a:rPr sz="2400">
                <a:solidFill>
                  <a:srgbClr val="60A5FA"/>
                </a:solidFill>
              </a:rPr>
              <a:t>⚖️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74320" rtlCol="0" anchor="ctr"/>
          <a:lstStyle/>
          <a:p>
            <a:pPr algn="ctr"/>
            <a:r>
              <a:rPr sz="3600" b="1" dirty="0">
                <a:solidFill>
                  <a:srgbClr val="A78BFA"/>
                </a:solidFill>
              </a:rPr>
              <a:t>Late
70-100%</a:t>
            </a:r>
          </a:p>
          <a:p>
            <a:pPr algn="ctr"/>
            <a:r>
              <a:rPr sz="3200" dirty="0">
                <a:solidFill>
                  <a:srgbClr val="E4E4E7"/>
                </a:solidFill>
                <a:latin typeface="Consolas"/>
              </a:rPr>
              <a:t>-0.5 to -0.2</a:t>
            </a:r>
          </a:p>
          <a:p>
            <a:pPr algn="ctr"/>
            <a:r>
              <a:rPr sz="2400" dirty="0">
                <a:solidFill>
                  <a:srgbClr val="A78BFA"/>
                </a:solidFill>
              </a:rPr>
              <a:t>🎯 Exploit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🎛️ ปรับด้วย ent_coef (default 0.01) — ถ้าน้อยเกิน policy collapse เร็ว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📉 value_loss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71717A"/>
                </a:solidFill>
              </a:rPr>
              <a:t>Critic Training Loss (Mean Squared Error)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ความผิดพลาดของ Critic เมื่อทาย expected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0A5FA"/>
                </a:solidFill>
                <a:latin typeface="Consolas"/>
              </a:rPr>
              <a:t>value_loss = (V_predicted − V_actual)²  → ยิ่งต่ำยิ่งดี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40080" y="371246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4D399"/>
                </a:solidFill>
                <a:latin typeface="Consolas"/>
              </a:rPr>
              <a:t>&lt; 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1246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12463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Critic เรียนได้ดี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6052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40080" y="421538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Consolas"/>
              </a:rPr>
              <a:t>0.01 - 0.1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1538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🟡 กลาง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15383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640080" y="471830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Consolas"/>
              </a:rPr>
              <a:t>&gt;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1830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18303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Critic struggling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4D399"/>
                </a:solidFill>
              </a:rPr>
              <a:t>✅ ของคุณตอนนี้: 0.000393 → ดีเยี่ยม! Critic ทำงานปกติ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📋 Healthy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ตารางสรุปค่าที่ปลอดภัย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5720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20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🟢 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🟡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20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🔴 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20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ของคุณ (ปัจจุบัน)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774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  <a:latin typeface="Consolas"/>
              </a:rPr>
              <a:t>0.005-0.05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FBBF24"/>
                </a:solidFill>
                <a:latin typeface="Consolas"/>
              </a:rPr>
              <a:t>0.05-0.15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774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F4444"/>
                </a:solidFill>
                <a:latin typeface="Consolas"/>
              </a:rPr>
              <a:t>&gt; 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774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F4444"/>
                </a:solidFill>
                <a:latin typeface="Consolas"/>
              </a:rPr>
              <a:t>0.51 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41148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40080" y="28346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clip_fraction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346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  <a:latin typeface="Consolas"/>
              </a:rPr>
              <a:t>&lt; 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FBBF24"/>
                </a:solidFill>
                <a:latin typeface="Consolas"/>
              </a:rPr>
              <a:t>0.2-0.3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F4444"/>
                </a:solidFill>
                <a:latin typeface="Consolas"/>
              </a:rPr>
              <a:t>&gt; 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8346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F4444"/>
                </a:solidFill>
                <a:latin typeface="Consolas"/>
              </a:rPr>
              <a:t>0.52 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461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40080" y="32918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explained_var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918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  <a:latin typeface="Consolas"/>
              </a:rPr>
              <a:t>&gt;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2918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FBBF24"/>
                </a:solidFill>
                <a:latin typeface="Consolas"/>
              </a:rPr>
              <a:t>0.2-0.5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2918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F4444"/>
                </a:solidFill>
                <a:latin typeface="Consolas"/>
              </a:rPr>
              <a:t>&lt; 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2918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  <a:latin typeface="Consolas"/>
              </a:rPr>
              <a:t>0.50 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03320"/>
            <a:ext cx="11247120" cy="41148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entropy_loss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7490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  <a:latin typeface="Consolas"/>
              </a:rPr>
              <a:t>-1 to -0.3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490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FBBF24"/>
                </a:solidFill>
                <a:latin typeface="Consolas"/>
              </a:rPr>
              <a:t>-0.3 to -0.1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490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F4444"/>
                </a:solidFill>
                <a:latin typeface="Consolas"/>
              </a:rPr>
              <a:t>&gt; -0.1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49039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  <a:latin typeface="Consolas"/>
              </a:rPr>
              <a:t>-0.55 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605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640080" y="42062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value_loss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2062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  <a:latin typeface="Consolas"/>
              </a:rPr>
              <a:t>&lt; 0.01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2062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FBBF24"/>
                </a:solidFill>
                <a:latin typeface="Consolas"/>
              </a:rPr>
              <a:t>0.01-0.1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2062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F4444"/>
                </a:solidFill>
                <a:latin typeface="Consolas"/>
              </a:rPr>
              <a:t>&gt; 0.1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20624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34D399"/>
                </a:solidFill>
                <a:latin typeface="Consolas"/>
              </a:rPr>
              <a:t>0.0004 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</a:rPr>
              <a:t>🩺 Diagnosis: Window=50 ใหญ่เกิน → policy unstable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4D399"/>
                </a:solidFill>
              </a:rPr>
              <a:t>💊 แก้: ลด window=10 (default) → metrics ทุกตัวกลับมา 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</a:rPr>
              <a:t>✅ Healthy Training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71717A"/>
                </a:solidFill>
              </a:rPr>
              <a:t>rl_v3 หลังเทรน 200k steps — ค่าทุกตัวอยู่ใน healthy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ep_rew_mean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+5.24</a:t>
            </a:r>
          </a:p>
          <a:p>
            <a:r>
              <a:rPr>
                <a:solidFill>
                  <a:srgbClr val="E4E4E7"/>
                </a:solidFill>
              </a:rPr>
              <a:t>✅ positive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approx_kl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0.012</a:t>
            </a:r>
          </a:p>
          <a:p>
            <a:r>
              <a:rPr>
                <a:solidFill>
                  <a:srgbClr val="E4E4E7"/>
                </a:solidFill>
              </a:rPr>
              <a:t>✅ smooth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clip_fraction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0.08</a:t>
            </a:r>
          </a:p>
          <a:p>
            <a:r>
              <a:rPr>
                <a:solidFill>
                  <a:srgbClr val="E4E4E7"/>
                </a:solidFill>
              </a:rPr>
              <a:t>✅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explained_variance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0.74</a:t>
            </a:r>
          </a:p>
          <a:p>
            <a:r>
              <a:rPr>
                <a:solidFill>
                  <a:srgbClr val="E4E4E7"/>
                </a:solidFill>
              </a:rPr>
              <a:t>✅ good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entropy_loss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-1.35</a:t>
            </a:r>
          </a:p>
          <a:p>
            <a:r>
              <a:rPr>
                <a:solidFill>
                  <a:srgbClr val="E4E4E7"/>
                </a:solidFill>
              </a:rPr>
              <a:t>✅ exploring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2000">
                <a:solidFill>
                  <a:srgbClr val="71717A"/>
                </a:solidFill>
              </a:rPr>
              <a:t>value_loss</a:t>
            </a:r>
          </a:p>
          <a:p>
            <a:r>
              <a:rPr sz="4400" b="1">
                <a:solidFill>
                  <a:srgbClr val="34D399"/>
                </a:solidFill>
                <a:latin typeface="Consolas"/>
              </a:rPr>
              <a:t>0.0008</a:t>
            </a:r>
          </a:p>
          <a:p>
            <a:r>
              <a:rPr>
                <a:solidFill>
                  <a:srgbClr val="E4E4E7"/>
                </a:solidFill>
              </a:rPr>
              <a:t>✅ excellent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82880" rtlCol="0" anchor="ctr"/>
          <a:lstStyle/>
          <a:p>
            <a:pPr algn="ctr"/>
            <a:r>
              <a:rPr sz="3200" b="1">
                <a:solidFill>
                  <a:srgbClr val="34D399"/>
                </a:solidFill>
              </a:rPr>
              <a:t>🎯 Backtest Result:</a:t>
            </a:r>
          </a:p>
          <a:p>
            <a:r>
              <a:rPr sz="2400">
                <a:solidFill>
                  <a:srgbClr val="E4E4E7"/>
                </a:solidFill>
                <a:latin typeface="Consolas"/>
              </a:rPr>
              <a:t>  PF = 1.02 · WR = 52.4% · Return = +1.92% · Max DD = -8.6%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4444"/>
                </a:solidFill>
              </a:rPr>
              <a:t>⚠️  Unhealthy Training (ของคุณตอนนี้)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rl_v3_new กับ window=50 — มีอาการแปลกๆ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approx_kl</a:t>
            </a:r>
          </a:p>
          <a:p>
            <a:r>
              <a:rPr sz="4000" b="1">
                <a:solidFill>
                  <a:srgbClr val="EF4444"/>
                </a:solidFill>
                <a:latin typeface="Consolas"/>
              </a:rPr>
              <a:t>0.51</a:t>
            </a:r>
          </a:p>
          <a:p>
            <a:r>
              <a:rPr sz="1600">
                <a:solidFill>
                  <a:srgbClr val="E4E4E7"/>
                </a:solidFill>
              </a:rPr>
              <a:t>🔴 10× เกิน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clip_fraction</a:t>
            </a:r>
          </a:p>
          <a:p>
            <a:r>
              <a:rPr sz="4000" b="1">
                <a:solidFill>
                  <a:srgbClr val="EF4444"/>
                </a:solidFill>
                <a:latin typeface="Consolas"/>
              </a:rPr>
              <a:t>0.52</a:t>
            </a:r>
          </a:p>
          <a:p>
            <a:r>
              <a:rPr sz="1600">
                <a:solidFill>
                  <a:srgbClr val="E4E4E7"/>
                </a:solidFill>
              </a:rPr>
              <a:t>🔴 unstable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explained_variance</a:t>
            </a:r>
          </a:p>
          <a:p>
            <a:r>
              <a:rPr sz="4000" b="1">
                <a:solidFill>
                  <a:srgbClr val="FBBF24"/>
                </a:solidFill>
                <a:latin typeface="Consolas"/>
              </a:rPr>
              <a:t>0.50</a:t>
            </a:r>
          </a:p>
          <a:p>
            <a:r>
              <a:rPr sz="1600">
                <a:solidFill>
                  <a:srgbClr val="E4E4E7"/>
                </a:solidFill>
              </a:rPr>
              <a:t>🟡 borderline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entropy_loss</a:t>
            </a:r>
          </a:p>
          <a:p>
            <a:r>
              <a:rPr sz="4000" b="1">
                <a:solidFill>
                  <a:srgbClr val="FBBF24"/>
                </a:solidFill>
                <a:latin typeface="Consolas"/>
              </a:rPr>
              <a:t>-0.55</a:t>
            </a:r>
          </a:p>
          <a:p>
            <a:r>
              <a:rPr sz="1600">
                <a:solidFill>
                  <a:srgbClr val="E4E4E7"/>
                </a:solidFill>
              </a:rPr>
              <a:t>🟡 ลดเร็วไป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value_loss</a:t>
            </a:r>
          </a:p>
          <a:p>
            <a:r>
              <a:rPr sz="4000" b="1">
                <a:solidFill>
                  <a:srgbClr val="34D399"/>
                </a:solidFill>
                <a:latin typeface="Consolas"/>
              </a:rPr>
              <a:t>0.0004</a:t>
            </a:r>
          </a:p>
          <a:p>
            <a:r>
              <a:rPr sz="1600">
                <a:solidFill>
                  <a:srgbClr val="E4E4E7"/>
                </a:solidFill>
              </a:rPr>
              <a:t>🟢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>
                <a:solidFill>
                  <a:srgbClr val="71717A"/>
                </a:solidFill>
              </a:rPr>
              <a:t>n_updates</a:t>
            </a:r>
          </a:p>
          <a:p>
            <a:r>
              <a:rPr sz="4000" b="1">
                <a:solidFill>
                  <a:srgbClr val="60A5FA"/>
                </a:solidFill>
                <a:latin typeface="Consolas"/>
              </a:rPr>
              <a:t>170</a:t>
            </a:r>
          </a:p>
          <a:p>
            <a:r>
              <a:rPr sz="1600">
                <a:solidFill>
                  <a:srgbClr val="E4E4E7"/>
                </a:solidFill>
              </a:rPr>
              <a:t>📊 18%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82880" rtlCol="0" anchor="ctr"/>
          <a:lstStyle/>
          <a:p>
            <a:pPr algn="ctr"/>
            <a:r>
              <a:rPr sz="2800" b="1">
                <a:solidFill>
                  <a:srgbClr val="EF4444"/>
                </a:solidFill>
              </a:rPr>
              <a:t>🩺 Root Cause:</a:t>
            </a:r>
          </a:p>
          <a:p>
            <a:r>
              <a:rPr sz="2000">
                <a:solidFill>
                  <a:srgbClr val="E4E4E7"/>
                </a:solidFill>
              </a:rPr>
              <a:t>  Window=50 ใหญ่เกิน → state ใหญ่ → NN ปรับตัวยาก → policy กระโดด</a:t>
            </a:r>
          </a:p>
          <a:p>
            <a:r>
              <a:rPr sz="2000" b="1">
                <a:solidFill>
                  <a:srgbClr val="34D399"/>
                </a:solidFill>
              </a:rPr>
              <a:t>💊 Fix: เปลี่ยน window=10 (default) → restart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🔧 How to Fix Each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ตัวที่แย่แก้ได้เสมอ — ลองตามลำดับด้านล่าง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5720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2024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Primary Fix 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Backup 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approx_kl &gt;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79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↓ learning_rate (3e-4 → 1e-4)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79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↓ clip_range, ↓ n_epochs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78BFA"/>
                </a:solidFill>
                <a:latin typeface="Consolas"/>
              </a:rPr>
              <a:t>clip_fraction &gt;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↓ learning_rate (3e-4 → 1e-4)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089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↑ n_steps, ↑ clip_range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79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472B6"/>
                </a:solidFill>
                <a:latin typeface="Consolas"/>
              </a:rPr>
              <a:t>explained_var &lt; 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39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↑ Critic NN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↑ gae_lambda, ↑ vf_coef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59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923C"/>
                </a:solidFill>
                <a:latin typeface="Consolas"/>
              </a:rPr>
              <a:t>entropy → 0 เร็วไป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↑ ent_coef (0.01 → 0.05)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8912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↓ learning_rate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  <a:latin typeface="Consolas"/>
              </a:rPr>
              <a:t>value_loss &gt; 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02920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Reward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02920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↑ Critic NN size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3212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34D399"/>
                </a:solidFill>
                <a:latin typeface="Consolas"/>
              </a:rPr>
              <a:t>ep_rew_mean stuck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66928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Reward shaping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66928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↑ features, ↑ ent_coef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>
                <a:solidFill>
                  <a:srgbClr val="60A5FA"/>
                </a:solidFill>
              </a:rPr>
              <a:t>💡 Tip: ลอง Primary fix ก่อน · Train 50k steps ดูผล · ถ้ายังแย่ลอง 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8BFA"/>
                </a:solidFill>
              </a:rPr>
              <a:t>✂️ clip_fraction — Counter-intuitive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หลายคนคิดว่า 'ลด clip_range' จะแก้ clip_fraction → จริงๆ ตรงข้าม!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/>
            <a:r>
              <a:rPr sz="3200" b="1">
                <a:solidFill>
                  <a:srgbClr val="EF4444"/>
                </a:solidFill>
              </a:rPr>
              <a:t>❌ คิดผิด</a:t>
            </a:r>
          </a:p>
          <a:p>
            <a:endParaRPr sz="3200" b="1">
              <a:solidFill>
                <a:srgbClr val="EF4444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'clip_fraction สูง = clip บ่อย</a:t>
            </a:r>
          </a:p>
          <a:p>
            <a:r>
              <a:rPr>
                <a:solidFill>
                  <a:srgbClr val="E4E4E7"/>
                </a:solidFill>
              </a:rPr>
              <a:t>→ ลด clip_range เพื่อ clip น้อยลง'</a:t>
            </a:r>
          </a:p>
          <a:p>
            <a:endParaRPr>
              <a:solidFill>
                <a:srgbClr val="E4E4E7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ผล:</a:t>
            </a:r>
          </a:p>
          <a:p>
            <a:r>
              <a:rPr>
                <a:solidFill>
                  <a:srgbClr val="E4E4E7"/>
                </a:solidFill>
              </a:rPr>
              <a:t>  clip_range = 0.2 → cf = 0.50</a:t>
            </a:r>
          </a:p>
          <a:p>
            <a:r>
              <a:rPr>
                <a:solidFill>
                  <a:srgbClr val="EF4444"/>
                </a:solidFill>
              </a:rPr>
              <a:t>  clip_range = 0.1 → cf = 0.70 ❌</a:t>
            </a:r>
          </a:p>
          <a:p>
            <a:r>
              <a:rPr>
                <a:solidFill>
                  <a:srgbClr val="EF4444"/>
                </a:solidFill>
              </a:rPr>
              <a:t>  clip_range = 0.05 → cf = 0.85 ❌</a:t>
            </a:r>
          </a:p>
          <a:p>
            <a:endParaRPr>
              <a:solidFill>
                <a:srgbClr val="EF4444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เพราะ window แคบลง → policy</a:t>
            </a:r>
          </a:p>
          <a:p>
            <a:r>
              <a:rPr>
                <a:solidFill>
                  <a:srgbClr val="E4E4E7"/>
                </a:solidFill>
              </a:rPr>
              <a:t>ติด clip บ่อยขึ้น (ตรงข้ามกับที่คิด)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/>
            <a:r>
              <a:rPr sz="3200" b="1">
                <a:solidFill>
                  <a:srgbClr val="34D399"/>
                </a:solidFill>
              </a:rPr>
              <a:t>✅ คิดถูก</a:t>
            </a:r>
          </a:p>
          <a:p>
            <a:endParaRPr sz="3200" b="1">
              <a:solidFill>
                <a:srgbClr val="34D399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'cf สูง = policy พยายามเปลี่ยน</a:t>
            </a:r>
          </a:p>
          <a:p>
            <a:r>
              <a:rPr>
                <a:solidFill>
                  <a:srgbClr val="E4E4E7"/>
                </a:solidFill>
              </a:rPr>
              <a:t> เร็วเกิน → ลด learning_rate'</a:t>
            </a:r>
          </a:p>
          <a:p>
            <a:endParaRPr>
              <a:solidFill>
                <a:srgbClr val="E4E4E7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ผล (ลด lr 3e-4 → 1e-4):</a:t>
            </a:r>
          </a:p>
          <a:p>
            <a:r>
              <a:rPr>
                <a:solidFill>
                  <a:srgbClr val="34D399"/>
                </a:solidFill>
              </a:rPr>
              <a:t>  cf: 0.50 → 0.18 ✅</a:t>
            </a:r>
          </a:p>
          <a:p>
            <a:r>
              <a:rPr>
                <a:solidFill>
                  <a:srgbClr val="34D399"/>
                </a:solidFill>
              </a:rPr>
              <a:t>  approx_kl: 0.51 → 0.04 ✅</a:t>
            </a:r>
          </a:p>
          <a:p>
            <a:r>
              <a:rPr>
                <a:solidFill>
                  <a:srgbClr val="E4E4E7"/>
                </a:solidFill>
              </a:rPr>
              <a:t>  → policy stable + เรียนรู้ได้</a:t>
            </a:r>
          </a:p>
          <a:p>
            <a:endParaRPr>
              <a:solidFill>
                <a:srgbClr val="E4E4E7"/>
              </a:solidFill>
            </a:endParaRPr>
          </a:p>
          <a:p>
            <a:r>
              <a:rPr>
                <a:solidFill>
                  <a:srgbClr val="E4E4E7"/>
                </a:solidFill>
              </a:rPr>
              <a:t>หลัก: แก้ที่ต้นเหตุ (lr)</a:t>
            </a:r>
          </a:p>
          <a:p>
            <a:r>
              <a:rPr>
                <a:solidFill>
                  <a:srgbClr val="E4E4E7"/>
                </a:solidFill>
              </a:rPr>
              <a:t>  ไม่ใช่ปลายเหตุ (clip_range)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</a:rPr>
              <a:t>🎯 Rule: Symptoms (clip_fraction) ≠ Cause · ดูที่ root cause (learning_rate)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🩺 Diagnosis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A"/>
                </a:solidFill>
              </a:rPr>
              <a:t>เจออาการแบบไหน → ดูที่ metric ไหน → แก้ยังไง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5720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อาการ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ดูที่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202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BBF24"/>
                </a:solidFill>
              </a:rPr>
              <a:t>วิธีแก้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Reward ไม่ขึ้น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7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7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ปรับ learning_rate (3e-4 → 1e-4)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Training crashed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089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ลด lr / window / batch_size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79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Trade ทุก bar / ไม่ปิด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Reward shaping (realized + max_hold)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59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Policy collapse / เลือก action เดียว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entropy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เพิ่ม ent_coef (0.01 → 0.05)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Backtest แย่กว่า 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explained_var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029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Overfit → reduce features / window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3212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E4E4E7"/>
                </a:solidFill>
              </a:rPr>
              <a:t>ค่าทุกตัวดูดี แต่ไม่ converge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60A5FA"/>
                </a:solidFill>
                <a:latin typeface="Consolas"/>
              </a:rPr>
              <a:t>ep_rew_mean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692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34D399"/>
                </a:solidFill>
              </a:rPr>
              <a:t>เปลี่ยน reward 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⚡ Quick Reference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34D399"/>
                </a:solidFill>
                <a:latin typeface="Consolas"/>
              </a:rPr>
              <a:t>ep_rew_mean    </a:t>
            </a:r>
            <a:r>
              <a:rPr sz="2000">
                <a:solidFill>
                  <a:srgbClr val="E4E4E7"/>
                </a:solidFill>
              </a:rPr>
              <a:t>🔼 ขึ้นเรื่อยๆ = ดี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4028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60A5FA"/>
                </a:solidFill>
                <a:latin typeface="Consolas"/>
              </a:rPr>
              <a:t>approx_kl    </a:t>
            </a:r>
            <a:r>
              <a:rPr sz="2000">
                <a:solidFill>
                  <a:srgbClr val="E4E4E7"/>
                </a:solidFill>
              </a:rPr>
              <a:t>0.005-0.05 = healthy   ·   &gt; 0.15 = แย่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A78BFA"/>
                </a:solidFill>
                <a:latin typeface="Consolas"/>
              </a:rPr>
              <a:t>clip_fraction    </a:t>
            </a:r>
            <a:r>
              <a:rPr sz="2000">
                <a:solidFill>
                  <a:srgbClr val="E4E4E7"/>
                </a:solidFill>
              </a:rPr>
              <a:t>&lt; 0.2 = healthy   ·   &gt; 0.3 = แย่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9476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F472B6"/>
                </a:solidFill>
                <a:latin typeface="Consolas"/>
              </a:rPr>
              <a:t>explained_variance    </a:t>
            </a:r>
            <a:r>
              <a:rPr sz="2000">
                <a:solidFill>
                  <a:srgbClr val="E4E4E7"/>
                </a:solidFill>
              </a:rPr>
              <a:t>&gt; 0.5 = healthy   ·   &lt; 0.2 = แย่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FB923C"/>
                </a:solidFill>
                <a:latin typeface="Consolas"/>
              </a:rPr>
              <a:t>entropy_loss    </a:t>
            </a:r>
            <a:r>
              <a:rPr sz="2000">
                <a:solidFill>
                  <a:srgbClr val="E4E4E7"/>
                </a:solidFill>
              </a:rPr>
              <a:t>เริ่ม -1.0 → จบ -0.3   (ลดลงเรื่อยๆ)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924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/>
            <a:r>
              <a:rPr sz="2400" b="1">
                <a:solidFill>
                  <a:srgbClr val="FBBF24"/>
                </a:solidFill>
                <a:latin typeface="Consolas"/>
              </a:rPr>
              <a:t>value_loss    </a:t>
            </a:r>
            <a:r>
              <a:rPr sz="2000">
                <a:solidFill>
                  <a:srgbClr val="E4E4E7"/>
                </a:solidFill>
              </a:rPr>
              <a:t>&lt; 0.01 = healthy   ·   ลดลงเรื่อยๆ = ดี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</a:rPr>
              <a:t>💡 ดู ep_rew_mean ก่อน — ถ้าขึ้น = OK · ถ้าไม่ → ค่อยดู metrics ตัวอื่น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615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>
                <a:solidFill>
                  <a:srgbClr val="FBBF24"/>
                </a:solidFill>
              </a:rPr>
              <a:t>🎓 </a:t>
            </a:r>
            <a:r>
              <a:rPr sz="6600" b="1" dirty="0" err="1">
                <a:solidFill>
                  <a:srgbClr val="FBBF24"/>
                </a:solidFill>
              </a:rPr>
              <a:t>รู้</a:t>
            </a:r>
            <a:r>
              <a:rPr sz="6600" b="1" dirty="0">
                <a:solidFill>
                  <a:srgbClr val="FBBF24"/>
                </a:solidFill>
              </a:rPr>
              <a:t> Metrics = </a:t>
            </a:r>
            <a:r>
              <a:rPr sz="6600" b="1" dirty="0" err="1">
                <a:solidFill>
                  <a:srgbClr val="FBBF24"/>
                </a:solidFill>
              </a:rPr>
              <a:t>ประหยัดเวลา</a:t>
            </a:r>
            <a:endParaRPr sz="6600" b="1" dirty="0">
              <a:solidFill>
                <a:srgbClr val="FBBF2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61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E4E4E7"/>
                </a:solidFill>
              </a:rPr>
              <a:t>หยุดทันที ก่อนเสีย 30 นาที — Train ใหม่ดีกว่า ทน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6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1717A"/>
                </a:solidFill>
              </a:rPr>
              <a:t>Healthy metrics → Healthy model → Profitable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dirty="0"/>
              <a:t>🩺 📊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61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34D399"/>
                </a:solidFill>
              </a:rPr>
              <a:t>Now: Stop your unhealthy run → Restart with window=10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1666</Words>
  <Application>Microsoft Office PowerPoint</Application>
  <PresentationFormat>Widescreen</PresentationFormat>
  <Paragraphs>314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Ohm Programmie</cp:lastModifiedBy>
  <cp:revision>2</cp:revision>
  <dcterms:created xsi:type="dcterms:W3CDTF">2013-01-27T09:14:16Z</dcterms:created>
  <dcterms:modified xsi:type="dcterms:W3CDTF">2026-05-07T09:13:17Z</dcterms:modified>
  <cp:category/>
</cp:coreProperties>
</file>